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0"/>
  </p:notesMasterIdLst>
  <p:handoutMasterIdLst>
    <p:handoutMasterId r:id="rId21"/>
  </p:handoutMasterIdLst>
  <p:sldIdLst>
    <p:sldId id="257" r:id="rId2"/>
    <p:sldId id="267" r:id="rId3"/>
    <p:sldId id="275" r:id="rId4"/>
    <p:sldId id="276" r:id="rId5"/>
    <p:sldId id="266" r:id="rId6"/>
    <p:sldId id="279" r:id="rId7"/>
    <p:sldId id="280" r:id="rId8"/>
    <p:sldId id="283" r:id="rId9"/>
    <p:sldId id="270" r:id="rId10"/>
    <p:sldId id="281" r:id="rId11"/>
    <p:sldId id="282" r:id="rId12"/>
    <p:sldId id="284" r:id="rId13"/>
    <p:sldId id="285" r:id="rId14"/>
    <p:sldId id="286" r:id="rId15"/>
    <p:sldId id="287" r:id="rId16"/>
    <p:sldId id="288" r:id="rId17"/>
    <p:sldId id="289" r:id="rId18"/>
    <p:sldId id="26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839" autoAdjust="0"/>
  </p:normalViewPr>
  <p:slideViewPr>
    <p:cSldViewPr snapToGrid="0">
      <p:cViewPr>
        <p:scale>
          <a:sx n="80" d="100"/>
          <a:sy n="80" d="100"/>
        </p:scale>
        <p:origin x="15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txBody>
          <a:bodyPr/>
          <a:lstStyle/>
          <a:p>
            <a:endParaRPr lang="en-US"/>
          </a:p>
        </p:txBody>
      </p:sp>
      <p:sp>
        <p:nvSpPr>
          <p:cNvPr id="3" name="Chỗ dành sẵn cho Ghi chú 2"/>
          <p:cNvSpPr>
            <a:spLocks noGrp="1"/>
          </p:cNvSpPr>
          <p:nvPr>
            <p:ph type="body" idx="1"/>
          </p:nvPr>
        </p:nvSpPr>
        <p:spPr/>
        <p:txBody>
          <a:bodyPr/>
          <a:lstStyle/>
          <a:p>
            <a:r>
              <a:rPr lang="en-US" dirty="0"/>
              <a:t>Due to specific OT environment condition, ICS protocols are often proprietary (for reliability since this ensure seamless communication between devices within a manufacture ecosystem.</a:t>
            </a:r>
          </a:p>
          <a:p>
            <a:endParaRPr lang="en-US" dirty="0"/>
          </a:p>
          <a:p>
            <a:r>
              <a:rPr lang="en-US" dirty="0"/>
              <a:t>Not include encryption, authentication and integrity mechanisms for real-time performance since these things  requires extra package processing time. </a:t>
            </a:r>
          </a:p>
          <a:p>
            <a:endParaRPr lang="en-US" dirty="0"/>
          </a:p>
          <a:p>
            <a:r>
              <a:rPr lang="en-US" dirty="0"/>
              <a:t>At first, strong security was not required because the plant OT network was often isolated from the outside world, so the attack surface was almost zero for external attackers. </a:t>
            </a:r>
          </a:p>
          <a:p>
            <a:endParaRPr lang="en-US" dirty="0"/>
          </a:p>
          <a:p>
            <a:r>
              <a:rPr lang="en-US" dirty="0"/>
              <a:t>However, to manage increasingly complex production, the OT network nowadays must have more connectivity, such as connect to the Internet, to MES for manage product progress, to SCADA for centralized monitoring, to the enterprise IT net-work to coordinate production with other activities such as finance and supply chain, logistics, auditing, etc. This has changed the attack surface of OT environments. When connectivity is higher, attackers have more ways to reach the OT network.</a:t>
            </a:r>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3</a:t>
            </a:fld>
            <a:endParaRPr lang="en-US"/>
          </a:p>
        </p:txBody>
      </p:sp>
    </p:spTree>
    <p:extLst>
      <p:ext uri="{BB962C8B-B14F-4D97-AF65-F5344CB8AC3E}">
        <p14:creationId xmlns:p14="http://schemas.microsoft.com/office/powerpoint/2010/main" val="2597065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15024"/>
            <a:ext cx="8674100" cy="488097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7/4/2026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683" r:id="rId4"/>
    <p:sldLayoutId id="2147483676" r:id="rId5"/>
    <p:sldLayoutId id="2147483679" r:id="rId6"/>
    <p:sldLayoutId id="2147483680" r:id="rId7"/>
    <p:sldLayoutId id="2147483681" r:id="rId8"/>
    <p:sldLayoutId id="2147483682" r:id="rId9"/>
    <p:sldLayoutId id="214748367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6" Type="http://schemas.openxmlformats.org/officeDocument/2006/relationships/image" Target="../media/image25.jpe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85775" y="2128324"/>
            <a:ext cx="7410450" cy="1936131"/>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600" dirty="0"/>
              <a:t>Research and Detection of Attacks on the Siemens S7Comm Protocol in ICS/OT Networks</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969205"/>
            <a:ext cx="6052457"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nSpc>
                <a:spcPct val="150000"/>
              </a:lnSpc>
            </a:pPr>
            <a:r>
              <a:rPr lang="en-US" sz="2200" b="0" dirty="0"/>
              <a:t>Student: Chu Trung Anh 20225564</a:t>
            </a:r>
          </a:p>
          <a:p>
            <a:pPr>
              <a:lnSpc>
                <a:spcPct val="150000"/>
              </a:lnSpc>
            </a:pPr>
            <a:r>
              <a:rPr lang="en-US" sz="2200" b="0" dirty="0"/>
              <a:t>Supervisor: MSc. Bui Trong Tung</a:t>
            </a:r>
          </a:p>
          <a:p>
            <a:endParaRPr lang="en-US" sz="2200" b="0"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r>
              <a:rPr lang="en-US" sz="4400" dirty="0">
                <a:latin typeface="Aptos" panose="020B0004020202020204" pitchFamily="34" charset="0"/>
              </a:rPr>
              <a:t>Outline</a:t>
            </a:r>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a:xfrm>
            <a:off x="3524250" y="1011238"/>
            <a:ext cx="5524499" cy="5529262"/>
          </a:xfrm>
        </p:spPr>
        <p:txBody>
          <a:bodyPr/>
          <a:lstStyle/>
          <a:p>
            <a:pPr marL="514350" indent="-514350">
              <a:lnSpc>
                <a:spcPct val="150000"/>
              </a:lnSpc>
              <a:buFont typeface="+mj-lt"/>
              <a:buAutoNum type="arabicPeriod"/>
            </a:pPr>
            <a:r>
              <a:rPr lang="en-US" sz="3200" dirty="0">
                <a:latin typeface="Aptos" panose="020B0004020202020204" pitchFamily="34" charset="0"/>
              </a:rPr>
              <a:t>Objectives</a:t>
            </a:r>
          </a:p>
          <a:p>
            <a:pPr marL="514350" indent="-514350">
              <a:lnSpc>
                <a:spcPct val="150000"/>
              </a:lnSpc>
              <a:buFont typeface="+mj-lt"/>
              <a:buAutoNum type="arabicPeriod"/>
            </a:pPr>
            <a:r>
              <a:rPr lang="en-US" sz="3200" dirty="0">
                <a:latin typeface="Aptos" panose="020B0004020202020204" pitchFamily="34" charset="0"/>
              </a:rPr>
              <a:t>Background theory </a:t>
            </a:r>
          </a:p>
          <a:p>
            <a:pPr marL="514350" indent="-514350">
              <a:lnSpc>
                <a:spcPct val="150000"/>
              </a:lnSpc>
              <a:buFont typeface="+mj-lt"/>
              <a:buAutoNum type="arabicPeriod"/>
            </a:pPr>
            <a:r>
              <a:rPr lang="en-US" sz="3200" dirty="0">
                <a:latin typeface="Aptos" panose="020B0004020202020204" pitchFamily="34" charset="0"/>
              </a:rPr>
              <a:t>Problem analysis</a:t>
            </a:r>
          </a:p>
          <a:p>
            <a:pPr marL="514350" indent="-514350">
              <a:lnSpc>
                <a:spcPct val="150000"/>
              </a:lnSpc>
              <a:buFont typeface="+mj-lt"/>
              <a:buAutoNum type="arabicPeriod"/>
            </a:pPr>
            <a:r>
              <a:rPr lang="en-US" sz="3200" dirty="0">
                <a:latin typeface="Aptos" panose="020B0004020202020204" pitchFamily="34" charset="0"/>
              </a:rPr>
              <a:t>System &amp; methodology</a:t>
            </a:r>
          </a:p>
          <a:p>
            <a:pPr marL="514350" indent="-514350">
              <a:lnSpc>
                <a:spcPct val="150000"/>
              </a:lnSpc>
              <a:buFont typeface="+mj-lt"/>
              <a:buAutoNum type="arabicPeriod"/>
            </a:pPr>
            <a:r>
              <a:rPr lang="en-US" sz="3200" dirty="0">
                <a:latin typeface="Aptos" panose="020B0004020202020204" pitchFamily="34" charset="0"/>
              </a:rPr>
              <a:t>Experimental results</a:t>
            </a:r>
          </a:p>
          <a:p>
            <a:pPr marL="514350" indent="-514350">
              <a:lnSpc>
                <a:spcPct val="150000"/>
              </a:lnSpc>
              <a:buFont typeface="+mj-lt"/>
              <a:buAutoNum type="arabicPeriod"/>
            </a:pPr>
            <a:r>
              <a:rPr lang="en-US" sz="3200" dirty="0">
                <a:latin typeface="Aptos" panose="020B0004020202020204" pitchFamily="34" charset="0"/>
              </a:rPr>
              <a:t>Conclusion</a:t>
            </a:r>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7B16-1C2D-B40C-E343-A67E6749A0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2DB143-7934-8BD0-B052-76148577E6E4}"/>
              </a:ext>
            </a:extLst>
          </p:cNvPr>
          <p:cNvSpPr>
            <a:spLocks noGrp="1"/>
          </p:cNvSpPr>
          <p:nvPr>
            <p:ph type="sldNum" sz="quarter" idx="12"/>
          </p:nvPr>
        </p:nvSpPr>
        <p:spPr>
          <a:xfrm>
            <a:off x="6851523" y="6596824"/>
            <a:ext cx="2057400" cy="365125"/>
          </a:xfrm>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8E424DBB-034E-DE7B-84B4-BD70A7A853F1}"/>
              </a:ext>
            </a:extLst>
          </p:cNvPr>
          <p:cNvSpPr>
            <a:spLocks noGrp="1"/>
          </p:cNvSpPr>
          <p:nvPr>
            <p:ph type="title"/>
          </p:nvPr>
        </p:nvSpPr>
        <p:spPr/>
        <p:txBody>
          <a:bodyPr/>
          <a:lstStyle/>
          <a:p>
            <a:r>
              <a:rPr lang="en-US" dirty="0"/>
              <a:t>1. Objectives</a:t>
            </a:r>
            <a:br>
              <a:rPr lang="en-US" dirty="0"/>
            </a:br>
            <a:endParaRPr lang="en-US" dirty="0"/>
          </a:p>
        </p:txBody>
      </p:sp>
      <p:sp>
        <p:nvSpPr>
          <p:cNvPr id="14" name="Chỗ dành sẵn cho Nội dung 13">
            <a:extLst>
              <a:ext uri="{FF2B5EF4-FFF2-40B4-BE49-F238E27FC236}">
                <a16:creationId xmlns:a16="http://schemas.microsoft.com/office/drawing/2014/main" id="{04BDF41F-3E04-6B5D-CD68-030CD8BDF474}"/>
              </a:ext>
            </a:extLst>
          </p:cNvPr>
          <p:cNvSpPr>
            <a:spLocks noGrp="1"/>
          </p:cNvSpPr>
          <p:nvPr>
            <p:ph sz="quarter" idx="13"/>
          </p:nvPr>
        </p:nvSpPr>
        <p:spPr>
          <a:xfrm>
            <a:off x="250683" y="899543"/>
            <a:ext cx="8826642" cy="1046122"/>
          </a:xfrm>
        </p:spPr>
        <p:txBody>
          <a:bodyPr/>
          <a:lstStyle/>
          <a:p>
            <a:pPr marL="0" indent="0">
              <a:buNone/>
            </a:pPr>
            <a:r>
              <a:rPr lang="en-US" sz="2200" dirty="0">
                <a:latin typeface="Aptos" panose="020B0004020202020204" pitchFamily="34" charset="0"/>
                <a:cs typeface="Arial" panose="020B0604020202020204" pitchFamily="34" charset="0"/>
              </a:rPr>
              <a:t>ICS protocols are often proprietary (for reliability), not include </a:t>
            </a:r>
            <a:r>
              <a:rPr lang="en-US" sz="2200" b="1" dirty="0">
                <a:solidFill>
                  <a:srgbClr val="FF0000"/>
                </a:solidFill>
                <a:latin typeface="Aptos" panose="020B0004020202020204" pitchFamily="34" charset="0"/>
                <a:cs typeface="Arial" panose="020B0604020202020204" pitchFamily="34" charset="0"/>
              </a:rPr>
              <a:t>encryption</a:t>
            </a:r>
            <a:r>
              <a:rPr lang="en-US" sz="2200" dirty="0">
                <a:latin typeface="Aptos" panose="020B0004020202020204" pitchFamily="34" charset="0"/>
                <a:cs typeface="Arial" panose="020B0604020202020204" pitchFamily="34" charset="0"/>
              </a:rPr>
              <a:t>, </a:t>
            </a:r>
            <a:r>
              <a:rPr lang="en-US" sz="2200" b="1" dirty="0">
                <a:solidFill>
                  <a:srgbClr val="FF0000"/>
                </a:solidFill>
                <a:latin typeface="Aptos" panose="020B0004020202020204" pitchFamily="34" charset="0"/>
                <a:cs typeface="Arial" panose="020B0604020202020204" pitchFamily="34" charset="0"/>
              </a:rPr>
              <a:t>authentication</a:t>
            </a:r>
            <a:r>
              <a:rPr lang="en-US" sz="2200" dirty="0">
                <a:latin typeface="Aptos" panose="020B0004020202020204" pitchFamily="34" charset="0"/>
                <a:cs typeface="Arial" panose="020B0604020202020204" pitchFamily="34" charset="0"/>
              </a:rPr>
              <a:t>, or </a:t>
            </a:r>
            <a:r>
              <a:rPr lang="en-US" sz="2200" b="1" dirty="0">
                <a:solidFill>
                  <a:srgbClr val="FF0000"/>
                </a:solidFill>
                <a:latin typeface="Aptos" panose="020B0004020202020204" pitchFamily="34" charset="0"/>
                <a:cs typeface="Arial" panose="020B0604020202020204" pitchFamily="34" charset="0"/>
              </a:rPr>
              <a:t>integrity</a:t>
            </a:r>
            <a:r>
              <a:rPr lang="en-US" sz="2200" dirty="0">
                <a:latin typeface="Aptos" panose="020B0004020202020204" pitchFamily="34" charset="0"/>
                <a:cs typeface="Arial" panose="020B0604020202020204" pitchFamily="34" charset="0"/>
              </a:rPr>
              <a:t> mechanisms (for real-time performance) by designing purposes</a:t>
            </a:r>
          </a:p>
        </p:txBody>
      </p:sp>
      <p:grpSp>
        <p:nvGrpSpPr>
          <p:cNvPr id="31" name="Nhóm 30">
            <a:extLst>
              <a:ext uri="{FF2B5EF4-FFF2-40B4-BE49-F238E27FC236}">
                <a16:creationId xmlns:a16="http://schemas.microsoft.com/office/drawing/2014/main" id="{E0906B37-8E7A-6279-B0A0-CBC39BFE1DFA}"/>
              </a:ext>
            </a:extLst>
          </p:cNvPr>
          <p:cNvGrpSpPr/>
          <p:nvPr/>
        </p:nvGrpSpPr>
        <p:grpSpPr>
          <a:xfrm>
            <a:off x="1210067" y="2446338"/>
            <a:ext cx="1981200" cy="2019300"/>
            <a:chOff x="370850" y="2893036"/>
            <a:chExt cx="1981200" cy="2019300"/>
          </a:xfrm>
        </p:grpSpPr>
        <p:pic>
          <p:nvPicPr>
            <p:cNvPr id="6" name="Hình ảnh 5" descr="Hmi Vector Art, Icons, and Graphics for Free Download">
              <a:extLst>
                <a:ext uri="{FF2B5EF4-FFF2-40B4-BE49-F238E27FC236}">
                  <a16:creationId xmlns:a16="http://schemas.microsoft.com/office/drawing/2014/main" id="{69FF135B-FE97-843F-C806-36F92AA2F0F2}"/>
                </a:ext>
              </a:extLst>
            </p:cNvPr>
            <p:cNvPicPr>
              <a:picLocks noChangeAspect="1"/>
            </p:cNvPicPr>
            <p:nvPr/>
          </p:nvPicPr>
          <p:blipFill>
            <a:blip r:embed="rId3"/>
            <a:srcRect l="16409" t="7102" r="50000" b="52857"/>
            <a:stretch>
              <a:fillRect/>
            </a:stretch>
          </p:blipFill>
          <p:spPr>
            <a:xfrm>
              <a:off x="736768" y="3990975"/>
              <a:ext cx="762978" cy="818312"/>
            </a:xfrm>
            <a:prstGeom prst="rect">
              <a:avLst/>
            </a:prstGeom>
          </p:spPr>
        </p:pic>
        <p:pic>
          <p:nvPicPr>
            <p:cNvPr id="8" name="Hình ảnh 7">
              <a:extLst>
                <a:ext uri="{FF2B5EF4-FFF2-40B4-BE49-F238E27FC236}">
                  <a16:creationId xmlns:a16="http://schemas.microsoft.com/office/drawing/2014/main" id="{8BC2D79B-8E8D-BD92-8742-65BD6EF9E5C8}"/>
                </a:ext>
              </a:extLst>
            </p:cNvPr>
            <p:cNvPicPr>
              <a:picLocks noChangeAspect="1"/>
            </p:cNvPicPr>
            <p:nvPr/>
          </p:nvPicPr>
          <p:blipFill>
            <a:blip r:embed="rId4"/>
            <a:stretch>
              <a:fillRect/>
            </a:stretch>
          </p:blipFill>
          <p:spPr>
            <a:xfrm>
              <a:off x="574050" y="3093060"/>
              <a:ext cx="897915" cy="897915"/>
            </a:xfrm>
            <a:prstGeom prst="rect">
              <a:avLst/>
            </a:prstGeom>
            <a:ln>
              <a:noFill/>
            </a:ln>
            <a:effectLst>
              <a:outerShdw blurRad="190500" algn="tl" rotWithShape="0">
                <a:srgbClr val="000000">
                  <a:alpha val="70000"/>
                </a:srgbClr>
              </a:outerShdw>
            </a:effectLst>
          </p:spPr>
        </p:pic>
        <p:pic>
          <p:nvPicPr>
            <p:cNvPr id="12" name="Hình ảnh 11">
              <a:extLst>
                <a:ext uri="{FF2B5EF4-FFF2-40B4-BE49-F238E27FC236}">
                  <a16:creationId xmlns:a16="http://schemas.microsoft.com/office/drawing/2014/main" id="{A53E5707-E686-6632-3297-723407005DC8}"/>
                </a:ext>
              </a:extLst>
            </p:cNvPr>
            <p:cNvPicPr>
              <a:picLocks noChangeAspect="1"/>
            </p:cNvPicPr>
            <p:nvPr/>
          </p:nvPicPr>
          <p:blipFill>
            <a:blip r:embed="rId5"/>
            <a:stretch>
              <a:fillRect/>
            </a:stretch>
          </p:blipFill>
          <p:spPr>
            <a:xfrm>
              <a:off x="1527526" y="3544882"/>
              <a:ext cx="645502" cy="645502"/>
            </a:xfrm>
            <a:prstGeom prst="rect">
              <a:avLst/>
            </a:prstGeom>
            <a:ln>
              <a:noFill/>
            </a:ln>
            <a:effectLst>
              <a:outerShdw blurRad="190500" algn="tl" rotWithShape="0">
                <a:srgbClr val="000000">
                  <a:alpha val="70000"/>
                </a:srgbClr>
              </a:outerShdw>
            </a:effectLst>
          </p:spPr>
        </p:pic>
        <p:sp>
          <p:nvSpPr>
            <p:cNvPr id="15" name="Hình Bầu dục 14">
              <a:extLst>
                <a:ext uri="{FF2B5EF4-FFF2-40B4-BE49-F238E27FC236}">
                  <a16:creationId xmlns:a16="http://schemas.microsoft.com/office/drawing/2014/main" id="{7C051BDF-A00D-BDEF-ABD7-CCD8E3022579}"/>
                </a:ext>
              </a:extLst>
            </p:cNvPr>
            <p:cNvSpPr/>
            <p:nvPr/>
          </p:nvSpPr>
          <p:spPr>
            <a:xfrm>
              <a:off x="370850" y="2893036"/>
              <a:ext cx="1981200" cy="2019300"/>
            </a:xfrm>
            <a:prstGeom prst="ellipse">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Hộp Văn bản 15">
            <a:extLst>
              <a:ext uri="{FF2B5EF4-FFF2-40B4-BE49-F238E27FC236}">
                <a16:creationId xmlns:a16="http://schemas.microsoft.com/office/drawing/2014/main" id="{2988DD91-5DA6-94D8-1AE7-F875FC612906}"/>
              </a:ext>
            </a:extLst>
          </p:cNvPr>
          <p:cNvSpPr txBox="1"/>
          <p:nvPr/>
        </p:nvSpPr>
        <p:spPr>
          <a:xfrm>
            <a:off x="1715517" y="1966147"/>
            <a:ext cx="890950" cy="400110"/>
          </a:xfrm>
          <a:prstGeom prst="rect">
            <a:avLst/>
          </a:prstGeom>
          <a:noFill/>
        </p:spPr>
        <p:txBody>
          <a:bodyPr wrap="square" rtlCol="0">
            <a:spAutoFit/>
          </a:bodyPr>
          <a:lstStyle/>
          <a:p>
            <a:r>
              <a:rPr lang="en-US" sz="2000" b="1" dirty="0"/>
              <a:t>Before</a:t>
            </a:r>
          </a:p>
        </p:txBody>
      </p:sp>
      <p:sp>
        <p:nvSpPr>
          <p:cNvPr id="18" name="Hộp Văn bản 17">
            <a:extLst>
              <a:ext uri="{FF2B5EF4-FFF2-40B4-BE49-F238E27FC236}">
                <a16:creationId xmlns:a16="http://schemas.microsoft.com/office/drawing/2014/main" id="{A6C29BBD-BE6C-BC1A-D9D9-890F3D08A4F3}"/>
              </a:ext>
            </a:extLst>
          </p:cNvPr>
          <p:cNvSpPr txBox="1"/>
          <p:nvPr/>
        </p:nvSpPr>
        <p:spPr>
          <a:xfrm>
            <a:off x="1671531" y="4482313"/>
            <a:ext cx="934936" cy="400110"/>
          </a:xfrm>
          <a:prstGeom prst="rect">
            <a:avLst/>
          </a:prstGeom>
          <a:noFill/>
        </p:spPr>
        <p:txBody>
          <a:bodyPr wrap="square" rtlCol="0">
            <a:spAutoFit/>
          </a:bodyPr>
          <a:lstStyle/>
          <a:p>
            <a:r>
              <a:rPr lang="en-US" sz="2000" dirty="0"/>
              <a:t>Air-gap</a:t>
            </a:r>
          </a:p>
        </p:txBody>
      </p:sp>
      <p:grpSp>
        <p:nvGrpSpPr>
          <p:cNvPr id="32" name="Nhóm 31">
            <a:extLst>
              <a:ext uri="{FF2B5EF4-FFF2-40B4-BE49-F238E27FC236}">
                <a16:creationId xmlns:a16="http://schemas.microsoft.com/office/drawing/2014/main" id="{2A6EA049-15DC-2570-D3DE-1A90955D0381}"/>
              </a:ext>
            </a:extLst>
          </p:cNvPr>
          <p:cNvGrpSpPr/>
          <p:nvPr/>
        </p:nvGrpSpPr>
        <p:grpSpPr>
          <a:xfrm>
            <a:off x="4729308" y="2415881"/>
            <a:ext cx="1981200" cy="2019300"/>
            <a:chOff x="370850" y="2893036"/>
            <a:chExt cx="1981200" cy="2019300"/>
          </a:xfrm>
        </p:grpSpPr>
        <p:pic>
          <p:nvPicPr>
            <p:cNvPr id="33" name="Hình ảnh 32" descr="Hmi Vector Art, Icons, and Graphics for Free Download">
              <a:extLst>
                <a:ext uri="{FF2B5EF4-FFF2-40B4-BE49-F238E27FC236}">
                  <a16:creationId xmlns:a16="http://schemas.microsoft.com/office/drawing/2014/main" id="{E495AA0F-6102-3A21-14BE-418447BBC189}"/>
                </a:ext>
              </a:extLst>
            </p:cNvPr>
            <p:cNvPicPr>
              <a:picLocks noChangeAspect="1"/>
            </p:cNvPicPr>
            <p:nvPr/>
          </p:nvPicPr>
          <p:blipFill>
            <a:blip r:embed="rId3"/>
            <a:srcRect l="16409" t="7102" r="50000" b="52857"/>
            <a:stretch>
              <a:fillRect/>
            </a:stretch>
          </p:blipFill>
          <p:spPr>
            <a:xfrm>
              <a:off x="736768" y="3990975"/>
              <a:ext cx="762978" cy="818312"/>
            </a:xfrm>
            <a:prstGeom prst="rect">
              <a:avLst/>
            </a:prstGeom>
            <a:ln>
              <a:noFill/>
            </a:ln>
          </p:spPr>
        </p:pic>
        <p:pic>
          <p:nvPicPr>
            <p:cNvPr id="34" name="Hình ảnh 33">
              <a:extLst>
                <a:ext uri="{FF2B5EF4-FFF2-40B4-BE49-F238E27FC236}">
                  <a16:creationId xmlns:a16="http://schemas.microsoft.com/office/drawing/2014/main" id="{EDD11C45-B34A-C35D-7012-AB7E45DC8C2E}"/>
                </a:ext>
              </a:extLst>
            </p:cNvPr>
            <p:cNvPicPr>
              <a:picLocks noChangeAspect="1"/>
            </p:cNvPicPr>
            <p:nvPr/>
          </p:nvPicPr>
          <p:blipFill>
            <a:blip r:embed="rId4"/>
            <a:stretch>
              <a:fillRect/>
            </a:stretch>
          </p:blipFill>
          <p:spPr>
            <a:xfrm>
              <a:off x="574050" y="3093060"/>
              <a:ext cx="897915" cy="897915"/>
            </a:xfrm>
            <a:prstGeom prst="rect">
              <a:avLst/>
            </a:prstGeom>
            <a:ln>
              <a:noFill/>
            </a:ln>
            <a:effectLst>
              <a:outerShdw blurRad="190500" algn="tl" rotWithShape="0">
                <a:srgbClr val="000000">
                  <a:alpha val="70000"/>
                </a:srgbClr>
              </a:outerShdw>
            </a:effectLst>
          </p:spPr>
        </p:pic>
        <p:pic>
          <p:nvPicPr>
            <p:cNvPr id="35" name="Hình ảnh 34">
              <a:extLst>
                <a:ext uri="{FF2B5EF4-FFF2-40B4-BE49-F238E27FC236}">
                  <a16:creationId xmlns:a16="http://schemas.microsoft.com/office/drawing/2014/main" id="{05AD1CD0-30DA-B9AD-A314-A886AF14B8F5}"/>
                </a:ext>
              </a:extLst>
            </p:cNvPr>
            <p:cNvPicPr>
              <a:picLocks noChangeAspect="1"/>
            </p:cNvPicPr>
            <p:nvPr/>
          </p:nvPicPr>
          <p:blipFill>
            <a:blip r:embed="rId5"/>
            <a:stretch>
              <a:fillRect/>
            </a:stretch>
          </p:blipFill>
          <p:spPr>
            <a:xfrm>
              <a:off x="1527526" y="3544882"/>
              <a:ext cx="645502" cy="645502"/>
            </a:xfrm>
            <a:prstGeom prst="rect">
              <a:avLst/>
            </a:prstGeom>
            <a:ln>
              <a:noFill/>
            </a:ln>
            <a:effectLst>
              <a:outerShdw blurRad="190500" algn="tl" rotWithShape="0">
                <a:srgbClr val="000000">
                  <a:alpha val="70000"/>
                </a:srgbClr>
              </a:outerShdw>
            </a:effectLst>
          </p:spPr>
        </p:pic>
        <p:sp>
          <p:nvSpPr>
            <p:cNvPr id="36" name="Hình Bầu dục 35">
              <a:extLst>
                <a:ext uri="{FF2B5EF4-FFF2-40B4-BE49-F238E27FC236}">
                  <a16:creationId xmlns:a16="http://schemas.microsoft.com/office/drawing/2014/main" id="{160198E7-6113-9806-B665-3F14B2FC81AB}"/>
                </a:ext>
              </a:extLst>
            </p:cNvPr>
            <p:cNvSpPr/>
            <p:nvPr/>
          </p:nvSpPr>
          <p:spPr>
            <a:xfrm>
              <a:off x="370850" y="2893036"/>
              <a:ext cx="1981200" cy="20193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Hộp Văn bản 36">
            <a:extLst>
              <a:ext uri="{FF2B5EF4-FFF2-40B4-BE49-F238E27FC236}">
                <a16:creationId xmlns:a16="http://schemas.microsoft.com/office/drawing/2014/main" id="{B558F09B-7662-0498-9F52-440897ADDED0}"/>
              </a:ext>
            </a:extLst>
          </p:cNvPr>
          <p:cNvSpPr txBox="1"/>
          <p:nvPr/>
        </p:nvSpPr>
        <p:spPr>
          <a:xfrm>
            <a:off x="5355834" y="1945665"/>
            <a:ext cx="728148" cy="400110"/>
          </a:xfrm>
          <a:prstGeom prst="rect">
            <a:avLst/>
          </a:prstGeom>
          <a:noFill/>
        </p:spPr>
        <p:txBody>
          <a:bodyPr wrap="square" rtlCol="0">
            <a:spAutoFit/>
          </a:bodyPr>
          <a:lstStyle/>
          <a:p>
            <a:r>
              <a:rPr lang="en-US" sz="2000" b="1" dirty="0"/>
              <a:t>After</a:t>
            </a:r>
          </a:p>
        </p:txBody>
      </p:sp>
      <p:sp>
        <p:nvSpPr>
          <p:cNvPr id="38" name="Hộp Văn bản 37">
            <a:extLst>
              <a:ext uri="{FF2B5EF4-FFF2-40B4-BE49-F238E27FC236}">
                <a16:creationId xmlns:a16="http://schemas.microsoft.com/office/drawing/2014/main" id="{3DC37899-3B60-F4D4-4688-0D597B40A1B1}"/>
              </a:ext>
            </a:extLst>
          </p:cNvPr>
          <p:cNvSpPr txBox="1"/>
          <p:nvPr/>
        </p:nvSpPr>
        <p:spPr>
          <a:xfrm>
            <a:off x="5106533" y="4435150"/>
            <a:ext cx="1308820" cy="400110"/>
          </a:xfrm>
          <a:prstGeom prst="rect">
            <a:avLst/>
          </a:prstGeom>
          <a:noFill/>
        </p:spPr>
        <p:txBody>
          <a:bodyPr wrap="square" rtlCol="0">
            <a:spAutoFit/>
          </a:bodyPr>
          <a:lstStyle/>
          <a:p>
            <a:r>
              <a:rPr lang="en-US" sz="2000" dirty="0"/>
              <a:t>Connected</a:t>
            </a:r>
          </a:p>
        </p:txBody>
      </p:sp>
      <p:sp>
        <p:nvSpPr>
          <p:cNvPr id="39" name="Mũi tên: Phải 38">
            <a:extLst>
              <a:ext uri="{FF2B5EF4-FFF2-40B4-BE49-F238E27FC236}">
                <a16:creationId xmlns:a16="http://schemas.microsoft.com/office/drawing/2014/main" id="{2816A3F6-CD9E-F77B-2A76-E27C1876F6CB}"/>
              </a:ext>
            </a:extLst>
          </p:cNvPr>
          <p:cNvSpPr/>
          <p:nvPr/>
        </p:nvSpPr>
        <p:spPr>
          <a:xfrm>
            <a:off x="3478020" y="3302436"/>
            <a:ext cx="1028336" cy="283640"/>
          </a:xfrm>
          <a:prstGeom prst="rightArrow">
            <a:avLst/>
          </a:prstGeom>
          <a:gradFill flip="none" rotWithShape="1">
            <a:gsLst>
              <a:gs pos="0">
                <a:srgbClr val="00B050"/>
              </a:gs>
              <a:gs pos="10000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Hình ảnh 40">
            <a:extLst>
              <a:ext uri="{FF2B5EF4-FFF2-40B4-BE49-F238E27FC236}">
                <a16:creationId xmlns:a16="http://schemas.microsoft.com/office/drawing/2014/main" id="{B1EB8534-66A5-A3EE-2315-A2027F6451BD}"/>
              </a:ext>
            </a:extLst>
          </p:cNvPr>
          <p:cNvPicPr>
            <a:picLocks noChangeAspect="1"/>
          </p:cNvPicPr>
          <p:nvPr/>
        </p:nvPicPr>
        <p:blipFill>
          <a:blip r:embed="rId6"/>
          <a:stretch>
            <a:fillRect/>
          </a:stretch>
        </p:blipFill>
        <p:spPr>
          <a:xfrm>
            <a:off x="7622023" y="1980307"/>
            <a:ext cx="692460" cy="692460"/>
          </a:xfrm>
          <a:prstGeom prst="rect">
            <a:avLst/>
          </a:prstGeom>
        </p:spPr>
      </p:pic>
      <p:cxnSp>
        <p:nvCxnSpPr>
          <p:cNvPr id="43" name="Đường nối Thẳng 42">
            <a:extLst>
              <a:ext uri="{FF2B5EF4-FFF2-40B4-BE49-F238E27FC236}">
                <a16:creationId xmlns:a16="http://schemas.microsoft.com/office/drawing/2014/main" id="{3C3C9227-8ACE-C582-9B86-B6A7D94C6996}"/>
              </a:ext>
            </a:extLst>
          </p:cNvPr>
          <p:cNvCxnSpPr>
            <a:cxnSpLocks/>
            <a:stCxn id="36" idx="6"/>
            <a:endCxn id="41" idx="1"/>
          </p:cNvCxnSpPr>
          <p:nvPr/>
        </p:nvCxnSpPr>
        <p:spPr>
          <a:xfrm flipV="1">
            <a:off x="6710508" y="2326537"/>
            <a:ext cx="911515" cy="1098994"/>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grpSp>
        <p:nvGrpSpPr>
          <p:cNvPr id="57" name="Nhóm 56">
            <a:extLst>
              <a:ext uri="{FF2B5EF4-FFF2-40B4-BE49-F238E27FC236}">
                <a16:creationId xmlns:a16="http://schemas.microsoft.com/office/drawing/2014/main" id="{96C7E846-5581-C70F-45EA-7CB72D4B74EE}"/>
              </a:ext>
            </a:extLst>
          </p:cNvPr>
          <p:cNvGrpSpPr/>
          <p:nvPr/>
        </p:nvGrpSpPr>
        <p:grpSpPr>
          <a:xfrm>
            <a:off x="7695722" y="3116752"/>
            <a:ext cx="692460" cy="952223"/>
            <a:chOff x="6128909" y="3497924"/>
            <a:chExt cx="692460" cy="952223"/>
          </a:xfrm>
        </p:grpSpPr>
        <p:sp>
          <p:nvSpPr>
            <p:cNvPr id="50" name="Hộp Văn bản 49">
              <a:extLst>
                <a:ext uri="{FF2B5EF4-FFF2-40B4-BE49-F238E27FC236}">
                  <a16:creationId xmlns:a16="http://schemas.microsoft.com/office/drawing/2014/main" id="{1C6F2A61-9CB0-F657-1B29-182936A43791}"/>
                </a:ext>
              </a:extLst>
            </p:cNvPr>
            <p:cNvSpPr txBox="1"/>
            <p:nvPr/>
          </p:nvSpPr>
          <p:spPr>
            <a:xfrm>
              <a:off x="6128909" y="4111593"/>
              <a:ext cx="554960" cy="338554"/>
            </a:xfrm>
            <a:prstGeom prst="rect">
              <a:avLst/>
            </a:prstGeom>
            <a:noFill/>
          </p:spPr>
          <p:txBody>
            <a:bodyPr wrap="none" rtlCol="0">
              <a:spAutoFit/>
            </a:bodyPr>
            <a:lstStyle/>
            <a:p>
              <a:r>
                <a:rPr lang="en-US" sz="1600" dirty="0"/>
                <a:t>MES</a:t>
              </a:r>
            </a:p>
          </p:txBody>
        </p:sp>
        <p:pic>
          <p:nvPicPr>
            <p:cNvPr id="56" name="Hình ảnh 55">
              <a:extLst>
                <a:ext uri="{FF2B5EF4-FFF2-40B4-BE49-F238E27FC236}">
                  <a16:creationId xmlns:a16="http://schemas.microsoft.com/office/drawing/2014/main" id="{D5F4B87D-BCF8-6C6A-5D8F-86422164632F}"/>
                </a:ext>
              </a:extLst>
            </p:cNvPr>
            <p:cNvPicPr>
              <a:picLocks noChangeAspect="1"/>
            </p:cNvPicPr>
            <p:nvPr/>
          </p:nvPicPr>
          <p:blipFill>
            <a:blip r:embed="rId7"/>
            <a:stretch>
              <a:fillRect/>
            </a:stretch>
          </p:blipFill>
          <p:spPr>
            <a:xfrm>
              <a:off x="6128909" y="3497924"/>
              <a:ext cx="692460" cy="692460"/>
            </a:xfrm>
            <a:prstGeom prst="rect">
              <a:avLst/>
            </a:prstGeom>
          </p:spPr>
        </p:pic>
      </p:grpSp>
      <p:grpSp>
        <p:nvGrpSpPr>
          <p:cNvPr id="65" name="Nhóm 64">
            <a:extLst>
              <a:ext uri="{FF2B5EF4-FFF2-40B4-BE49-F238E27FC236}">
                <a16:creationId xmlns:a16="http://schemas.microsoft.com/office/drawing/2014/main" id="{9581931F-B5A3-C35E-C620-968A308D86E9}"/>
              </a:ext>
            </a:extLst>
          </p:cNvPr>
          <p:cNvGrpSpPr/>
          <p:nvPr/>
        </p:nvGrpSpPr>
        <p:grpSpPr>
          <a:xfrm>
            <a:off x="7708099" y="4200633"/>
            <a:ext cx="749116" cy="1069664"/>
            <a:chOff x="6318746" y="4912336"/>
            <a:chExt cx="749116" cy="1069664"/>
          </a:xfrm>
        </p:grpSpPr>
        <p:pic>
          <p:nvPicPr>
            <p:cNvPr id="62" name="Hình ảnh 61">
              <a:extLst>
                <a:ext uri="{FF2B5EF4-FFF2-40B4-BE49-F238E27FC236}">
                  <a16:creationId xmlns:a16="http://schemas.microsoft.com/office/drawing/2014/main" id="{1B03E773-E003-4D8E-3B23-5262D266917F}"/>
                </a:ext>
              </a:extLst>
            </p:cNvPr>
            <p:cNvPicPr>
              <a:picLocks noChangeAspect="1"/>
            </p:cNvPicPr>
            <p:nvPr/>
          </p:nvPicPr>
          <p:blipFill>
            <a:blip r:embed="rId8"/>
            <a:stretch>
              <a:fillRect/>
            </a:stretch>
          </p:blipFill>
          <p:spPr>
            <a:xfrm>
              <a:off x="6327749" y="4912336"/>
              <a:ext cx="731110" cy="731110"/>
            </a:xfrm>
            <a:prstGeom prst="rect">
              <a:avLst/>
            </a:prstGeom>
          </p:spPr>
        </p:pic>
        <p:sp>
          <p:nvSpPr>
            <p:cNvPr id="64" name="Hộp Văn bản 63">
              <a:extLst>
                <a:ext uri="{FF2B5EF4-FFF2-40B4-BE49-F238E27FC236}">
                  <a16:creationId xmlns:a16="http://schemas.microsoft.com/office/drawing/2014/main" id="{63D855ED-844A-D209-45B1-43A6E5A151FA}"/>
                </a:ext>
              </a:extLst>
            </p:cNvPr>
            <p:cNvSpPr txBox="1"/>
            <p:nvPr/>
          </p:nvSpPr>
          <p:spPr>
            <a:xfrm>
              <a:off x="6318746" y="5643446"/>
              <a:ext cx="749116" cy="338554"/>
            </a:xfrm>
            <a:prstGeom prst="rect">
              <a:avLst/>
            </a:prstGeom>
            <a:noFill/>
          </p:spPr>
          <p:txBody>
            <a:bodyPr wrap="none" rtlCol="0">
              <a:spAutoFit/>
            </a:bodyPr>
            <a:lstStyle/>
            <a:p>
              <a:r>
                <a:rPr lang="en-US" sz="1600" dirty="0"/>
                <a:t>SCADA</a:t>
              </a:r>
            </a:p>
          </p:txBody>
        </p:sp>
      </p:grpSp>
      <p:cxnSp>
        <p:nvCxnSpPr>
          <p:cNvPr id="67" name="Đường nối Thẳng 66">
            <a:extLst>
              <a:ext uri="{FF2B5EF4-FFF2-40B4-BE49-F238E27FC236}">
                <a16:creationId xmlns:a16="http://schemas.microsoft.com/office/drawing/2014/main" id="{33E89B04-48B8-51EE-3D1C-A9A8868BE48A}"/>
              </a:ext>
            </a:extLst>
          </p:cNvPr>
          <p:cNvCxnSpPr>
            <a:cxnSpLocks/>
            <a:stCxn id="36" idx="6"/>
            <a:endCxn id="56" idx="1"/>
          </p:cNvCxnSpPr>
          <p:nvPr/>
        </p:nvCxnSpPr>
        <p:spPr>
          <a:xfrm>
            <a:off x="6710508" y="3425531"/>
            <a:ext cx="985214" cy="37451"/>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70" name="Đường nối Thẳng 69">
            <a:extLst>
              <a:ext uri="{FF2B5EF4-FFF2-40B4-BE49-F238E27FC236}">
                <a16:creationId xmlns:a16="http://schemas.microsoft.com/office/drawing/2014/main" id="{2A90B0A4-F060-E664-F2D7-42ABD8F86DE0}"/>
              </a:ext>
            </a:extLst>
          </p:cNvPr>
          <p:cNvCxnSpPr>
            <a:cxnSpLocks/>
            <a:stCxn id="36" idx="6"/>
            <a:endCxn id="62" idx="1"/>
          </p:cNvCxnSpPr>
          <p:nvPr/>
        </p:nvCxnSpPr>
        <p:spPr>
          <a:xfrm>
            <a:off x="6710508" y="3425531"/>
            <a:ext cx="1006594" cy="1140657"/>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sp>
        <p:nvSpPr>
          <p:cNvPr id="13" name="Hộp Văn bản 12">
            <a:extLst>
              <a:ext uri="{FF2B5EF4-FFF2-40B4-BE49-F238E27FC236}">
                <a16:creationId xmlns:a16="http://schemas.microsoft.com/office/drawing/2014/main" id="{E2643A17-9331-403D-3A70-60418E5F5672}"/>
              </a:ext>
            </a:extLst>
          </p:cNvPr>
          <p:cNvSpPr txBox="1"/>
          <p:nvPr/>
        </p:nvSpPr>
        <p:spPr>
          <a:xfrm>
            <a:off x="1671531" y="5513032"/>
            <a:ext cx="6081626" cy="46166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400" dirty="0">
                <a:latin typeface="Arial" panose="020B0604020202020204" pitchFamily="34" charset="0"/>
                <a:cs typeface="Arial" panose="020B0604020202020204" pitchFamily="34" charset="0"/>
              </a:rPr>
              <a:t>Increase attack surface in OT environments</a:t>
            </a:r>
          </a:p>
        </p:txBody>
      </p:sp>
      <p:pic>
        <p:nvPicPr>
          <p:cNvPr id="19" name="Hình ảnh 18">
            <a:extLst>
              <a:ext uri="{FF2B5EF4-FFF2-40B4-BE49-F238E27FC236}">
                <a16:creationId xmlns:a16="http://schemas.microsoft.com/office/drawing/2014/main" id="{32AF1E36-C1A6-00CC-1BD5-2A20FBD1AB3C}"/>
              </a:ext>
            </a:extLst>
          </p:cNvPr>
          <p:cNvPicPr>
            <a:picLocks noChangeAspect="1"/>
          </p:cNvPicPr>
          <p:nvPr/>
        </p:nvPicPr>
        <p:blipFill>
          <a:blip r:embed="rId9"/>
          <a:stretch>
            <a:fillRect/>
          </a:stretch>
        </p:blipFill>
        <p:spPr>
          <a:xfrm rot="20397949">
            <a:off x="1296053" y="5079185"/>
            <a:ext cx="609684" cy="609684"/>
          </a:xfrm>
          <a:prstGeom prst="rect">
            <a:avLst/>
          </a:prstGeom>
        </p:spPr>
      </p:pic>
    </p:spTree>
    <p:extLst>
      <p:ext uri="{BB962C8B-B14F-4D97-AF65-F5344CB8AC3E}">
        <p14:creationId xmlns:p14="http://schemas.microsoft.com/office/powerpoint/2010/main" val="3047714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3AD2-BAB3-5CE0-C97F-85A0B7DDDE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C0FCE5-F777-B72E-82B8-F1A7AE56B66B}"/>
              </a:ext>
            </a:extLst>
          </p:cNvPr>
          <p:cNvSpPr>
            <a:spLocks noGrp="1"/>
          </p:cNvSpPr>
          <p:nvPr>
            <p:ph type="sldNum" sz="quarter" idx="12"/>
          </p:nvPr>
        </p:nvSpPr>
        <p:spPr>
          <a:xfrm>
            <a:off x="6851523" y="6596824"/>
            <a:ext cx="2057400" cy="365125"/>
          </a:xfrm>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0F949E36-3750-F6F3-C37D-AF152DF78C39}"/>
              </a:ext>
            </a:extLst>
          </p:cNvPr>
          <p:cNvSpPr>
            <a:spLocks noGrp="1"/>
          </p:cNvSpPr>
          <p:nvPr>
            <p:ph type="title"/>
          </p:nvPr>
        </p:nvSpPr>
        <p:spPr/>
        <p:txBody>
          <a:bodyPr/>
          <a:lstStyle/>
          <a:p>
            <a:r>
              <a:rPr lang="en-US" dirty="0"/>
              <a:t>1. Objectives</a:t>
            </a:r>
            <a:br>
              <a:rPr lang="en-US" dirty="0"/>
            </a:br>
            <a:endParaRPr lang="en-US" dirty="0"/>
          </a:p>
        </p:txBody>
      </p:sp>
      <p:sp>
        <p:nvSpPr>
          <p:cNvPr id="14" name="Chỗ dành sẵn cho Nội dung 13">
            <a:extLst>
              <a:ext uri="{FF2B5EF4-FFF2-40B4-BE49-F238E27FC236}">
                <a16:creationId xmlns:a16="http://schemas.microsoft.com/office/drawing/2014/main" id="{224645D5-5001-DEA5-DA6B-4FDCD9C024B3}"/>
              </a:ext>
            </a:extLst>
          </p:cNvPr>
          <p:cNvSpPr>
            <a:spLocks noGrp="1"/>
          </p:cNvSpPr>
          <p:nvPr>
            <p:ph sz="quarter" idx="13"/>
          </p:nvPr>
        </p:nvSpPr>
        <p:spPr>
          <a:xfrm>
            <a:off x="250683" y="899543"/>
            <a:ext cx="8750442" cy="3043808"/>
          </a:xfrm>
        </p:spPr>
        <p:txBody>
          <a:bodyPr/>
          <a:lstStyle/>
          <a:p>
            <a:pPr marL="0" indent="0">
              <a:lnSpc>
                <a:spcPct val="100000"/>
              </a:lnSpc>
              <a:buNone/>
            </a:pPr>
            <a:r>
              <a:rPr lang="en-US" sz="2000" b="1" dirty="0">
                <a:latin typeface="Aptos" panose="020B0004020202020204" pitchFamily="34" charset="0"/>
                <a:cs typeface="Arial" panose="020B0604020202020204" pitchFamily="34" charset="0"/>
              </a:rPr>
              <a:t>Challenges:</a:t>
            </a:r>
          </a:p>
          <a:p>
            <a:pPr>
              <a:lnSpc>
                <a:spcPct val="100000"/>
              </a:lnSpc>
            </a:pPr>
            <a:r>
              <a:rPr lang="en-US" sz="2000" dirty="0">
                <a:latin typeface="Aptos" panose="020B0004020202020204" pitchFamily="34" charset="0"/>
                <a:cs typeface="Arial" panose="020B0604020202020204" pitchFamily="34" charset="0"/>
              </a:rPr>
              <a:t>Increasing number of attacks with a tendency toward nation-state and political motivations</a:t>
            </a:r>
          </a:p>
          <a:p>
            <a:pPr>
              <a:lnSpc>
                <a:spcPct val="100000"/>
              </a:lnSpc>
            </a:pPr>
            <a:r>
              <a:rPr lang="en-US" sz="2000" dirty="0">
                <a:latin typeface="Aptos" panose="020B0004020202020204" pitchFamily="34" charset="0"/>
                <a:cs typeface="Arial" panose="020B0604020202020204" pitchFamily="34" charset="0"/>
              </a:rPr>
              <a:t>Factories operate continuously, making it impossible to redesign from scratch using a "secure by design" philosophy. </a:t>
            </a:r>
            <a:r>
              <a:rPr lang="en-US" sz="2000" b="1" dirty="0">
                <a:solidFill>
                  <a:srgbClr val="FF0000"/>
                </a:solidFill>
                <a:latin typeface="Aptos" panose="020B0004020202020204" pitchFamily="34" charset="0"/>
                <a:cs typeface="Arial" panose="020B0604020202020204" pitchFamily="34" charset="0"/>
              </a:rPr>
              <a:t>Availability</a:t>
            </a:r>
            <a:r>
              <a:rPr lang="en-US" sz="2000" dirty="0">
                <a:latin typeface="Aptos" panose="020B0004020202020204" pitchFamily="34" charset="0"/>
                <a:cs typeface="Arial" panose="020B0604020202020204" pitchFamily="34" charset="0"/>
              </a:rPr>
              <a:t> is the highest priority.</a:t>
            </a:r>
          </a:p>
          <a:p>
            <a:pPr>
              <a:lnSpc>
                <a:spcPct val="100000"/>
              </a:lnSpc>
            </a:pPr>
            <a:r>
              <a:rPr lang="en-US" sz="2000" dirty="0">
                <a:latin typeface="Aptos" panose="020B0004020202020204" pitchFamily="34" charset="0"/>
                <a:cs typeface="Arial" panose="020B0604020202020204" pitchFamily="34" charset="0"/>
              </a:rPr>
              <a:t>Intervening in industrial devices to install active monitoring agents is extremely risky (device lifespan, proprietary software, vendor diversity, etc.)</a:t>
            </a:r>
          </a:p>
        </p:txBody>
      </p:sp>
      <p:sp>
        <p:nvSpPr>
          <p:cNvPr id="10" name="Hộp Văn bản 9">
            <a:extLst>
              <a:ext uri="{FF2B5EF4-FFF2-40B4-BE49-F238E27FC236}">
                <a16:creationId xmlns:a16="http://schemas.microsoft.com/office/drawing/2014/main" id="{19E88649-D449-F39A-1ADB-014A3439E95B}"/>
              </a:ext>
            </a:extLst>
          </p:cNvPr>
          <p:cNvSpPr txBox="1"/>
          <p:nvPr/>
        </p:nvSpPr>
        <p:spPr>
          <a:xfrm>
            <a:off x="983353" y="4541773"/>
            <a:ext cx="7285101"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400" dirty="0">
                <a:latin typeface="Aptos" panose="020B0004020202020204" pitchFamily="34" charset="0"/>
                <a:cs typeface="Arial" panose="020B0604020202020204" pitchFamily="34" charset="0"/>
              </a:rPr>
              <a:t>Building a passive monitoring solution specified for industrial protocol to minimize the impact on factory operations</a:t>
            </a:r>
          </a:p>
        </p:txBody>
      </p:sp>
      <p:pic>
        <p:nvPicPr>
          <p:cNvPr id="17" name="Hình ảnh 16">
            <a:extLst>
              <a:ext uri="{FF2B5EF4-FFF2-40B4-BE49-F238E27FC236}">
                <a16:creationId xmlns:a16="http://schemas.microsoft.com/office/drawing/2014/main" id="{B5F28B45-FB48-4C2B-8FFD-11512ECB6EA2}"/>
              </a:ext>
            </a:extLst>
          </p:cNvPr>
          <p:cNvPicPr>
            <a:picLocks noChangeAspect="1"/>
          </p:cNvPicPr>
          <p:nvPr/>
        </p:nvPicPr>
        <p:blipFill>
          <a:blip r:embed="rId2"/>
          <a:stretch>
            <a:fillRect/>
          </a:stretch>
        </p:blipFill>
        <p:spPr>
          <a:xfrm rot="20893922">
            <a:off x="546899" y="4042066"/>
            <a:ext cx="657295" cy="657295"/>
          </a:xfrm>
          <a:prstGeom prst="rect">
            <a:avLst/>
          </a:prstGeom>
        </p:spPr>
      </p:pic>
    </p:spTree>
    <p:extLst>
      <p:ext uri="{BB962C8B-B14F-4D97-AF65-F5344CB8AC3E}">
        <p14:creationId xmlns:p14="http://schemas.microsoft.com/office/powerpoint/2010/main" val="4284420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5</a:t>
            </a:fld>
            <a:endParaRPr lang="en-US" dirty="0"/>
          </a:p>
        </p:txBody>
      </p:sp>
      <p:cxnSp>
        <p:nvCxnSpPr>
          <p:cNvPr id="22" name="Đường nối Thẳng 21">
            <a:extLst>
              <a:ext uri="{FF2B5EF4-FFF2-40B4-BE49-F238E27FC236}">
                <a16:creationId xmlns:a16="http://schemas.microsoft.com/office/drawing/2014/main" id="{147A2A3E-6DC2-8DF3-2D75-0999EEF7AC36}"/>
              </a:ext>
            </a:extLst>
          </p:cNvPr>
          <p:cNvCxnSpPr>
            <a:cxnSpLocks/>
          </p:cNvCxnSpPr>
          <p:nvPr/>
        </p:nvCxnSpPr>
        <p:spPr>
          <a:xfrm>
            <a:off x="4619592" y="2686140"/>
            <a:ext cx="4228982"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Đường nối Thẳng 22">
            <a:extLst>
              <a:ext uri="{FF2B5EF4-FFF2-40B4-BE49-F238E27FC236}">
                <a16:creationId xmlns:a16="http://schemas.microsoft.com/office/drawing/2014/main" id="{5C6E2F78-759D-578D-E719-4DE03C8A0825}"/>
              </a:ext>
            </a:extLst>
          </p:cNvPr>
          <p:cNvCxnSpPr>
            <a:cxnSpLocks/>
          </p:cNvCxnSpPr>
          <p:nvPr/>
        </p:nvCxnSpPr>
        <p:spPr>
          <a:xfrm>
            <a:off x="4619592" y="4191330"/>
            <a:ext cx="4228982" cy="3333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5" name="Title 1">
            <a:extLst>
              <a:ext uri="{FF2B5EF4-FFF2-40B4-BE49-F238E27FC236}">
                <a16:creationId xmlns:a16="http://schemas.microsoft.com/office/drawing/2014/main" id="{71CA4C42-B1EE-8673-AAF5-7F9D22B05096}"/>
              </a:ext>
            </a:extLst>
          </p:cNvPr>
          <p:cNvSpPr>
            <a:spLocks noGrp="1"/>
          </p:cNvSpPr>
          <p:nvPr>
            <p:ph type="title"/>
          </p:nvPr>
        </p:nvSpPr>
        <p:spPr>
          <a:xfrm>
            <a:off x="254052" y="112543"/>
            <a:ext cx="8635896" cy="436098"/>
          </a:xfrm>
          <a:prstGeom prst="rect">
            <a:avLst/>
          </a:prstGeom>
        </p:spPr>
        <p:txBody>
          <a:bodyPr/>
          <a:lstStyle/>
          <a:p>
            <a:r>
              <a:rPr lang="en-US" dirty="0">
                <a:latin typeface="Aptos" panose="020B0004020202020204" pitchFamily="34" charset="0"/>
              </a:rPr>
              <a:t>2. Background theory </a:t>
            </a:r>
            <a:br>
              <a:rPr lang="en-US" dirty="0">
                <a:latin typeface="Aptos" panose="020B0004020202020204" pitchFamily="34" charset="0"/>
              </a:rPr>
            </a:br>
            <a:br>
              <a:rPr lang="en-US" dirty="0"/>
            </a:br>
            <a:br>
              <a:rPr lang="en-US" dirty="0">
                <a:latin typeface="Aptos" panose="020B0004020202020204" pitchFamily="34" charset="0"/>
              </a:rPr>
            </a:br>
            <a:endParaRPr lang="en-US" dirty="0"/>
          </a:p>
        </p:txBody>
      </p:sp>
      <p:pic>
        <p:nvPicPr>
          <p:cNvPr id="27" name="Hình ảnh 26" descr="GIỚI THIỆU TỔNG QUAN VỀ BỘ LẬP TRÌNH PLC S7-400/S7-400H/S7-400F/FH">
            <a:extLst>
              <a:ext uri="{FF2B5EF4-FFF2-40B4-BE49-F238E27FC236}">
                <a16:creationId xmlns:a16="http://schemas.microsoft.com/office/drawing/2014/main" id="{ADC2B61A-0298-C513-AE6E-0BEB02B7574A}"/>
              </a:ext>
            </a:extLst>
          </p:cNvPr>
          <p:cNvPicPr>
            <a:picLocks noChangeAspect="1"/>
          </p:cNvPicPr>
          <p:nvPr/>
        </p:nvPicPr>
        <p:blipFill>
          <a:blip r:embed="rId2"/>
          <a:stretch>
            <a:fillRect/>
          </a:stretch>
        </p:blipFill>
        <p:spPr>
          <a:xfrm>
            <a:off x="6173656" y="2778177"/>
            <a:ext cx="1120973" cy="1281112"/>
          </a:xfrm>
          <a:prstGeom prst="rect">
            <a:avLst/>
          </a:prstGeom>
        </p:spPr>
      </p:pic>
      <p:pic>
        <p:nvPicPr>
          <p:cNvPr id="28" name="Hình ảnh 27" descr="Tia Portal V20 Download">
            <a:extLst>
              <a:ext uri="{FF2B5EF4-FFF2-40B4-BE49-F238E27FC236}">
                <a16:creationId xmlns:a16="http://schemas.microsoft.com/office/drawing/2014/main" id="{72008E92-24C4-09AD-9C7E-7CE8A7312F2E}"/>
              </a:ext>
            </a:extLst>
          </p:cNvPr>
          <p:cNvPicPr>
            <a:picLocks noChangeAspect="1"/>
          </p:cNvPicPr>
          <p:nvPr/>
        </p:nvPicPr>
        <p:blipFill>
          <a:blip r:embed="rId3"/>
          <a:srcRect t="24630" b="18703"/>
          <a:stretch>
            <a:fillRect/>
          </a:stretch>
        </p:blipFill>
        <p:spPr>
          <a:xfrm>
            <a:off x="4970582" y="1323627"/>
            <a:ext cx="865720" cy="874248"/>
          </a:xfrm>
          <a:prstGeom prst="rect">
            <a:avLst/>
          </a:prstGeom>
        </p:spPr>
      </p:pic>
      <p:pic>
        <p:nvPicPr>
          <p:cNvPr id="29" name="Hình ảnh 28" descr="The perks of Robot Arm integration | SME Magazine">
            <a:extLst>
              <a:ext uri="{FF2B5EF4-FFF2-40B4-BE49-F238E27FC236}">
                <a16:creationId xmlns:a16="http://schemas.microsoft.com/office/drawing/2014/main" id="{0A17DA76-B8CD-EB55-F939-B3FCD7BC70AC}"/>
              </a:ext>
            </a:extLst>
          </p:cNvPr>
          <p:cNvPicPr>
            <a:picLocks noChangeAspect="1"/>
          </p:cNvPicPr>
          <p:nvPr/>
        </p:nvPicPr>
        <p:blipFill>
          <a:blip r:embed="rId4"/>
          <a:srcRect l="16112" r="16101"/>
          <a:stretch>
            <a:fillRect/>
          </a:stretch>
        </p:blipFill>
        <p:spPr>
          <a:xfrm>
            <a:off x="6029411" y="4433622"/>
            <a:ext cx="1409700" cy="1387476"/>
          </a:xfrm>
          <a:prstGeom prst="rect">
            <a:avLst/>
          </a:prstGeom>
        </p:spPr>
      </p:pic>
      <p:cxnSp>
        <p:nvCxnSpPr>
          <p:cNvPr id="30" name="Đường kết nối Mũi tên Thẳng 29">
            <a:extLst>
              <a:ext uri="{FF2B5EF4-FFF2-40B4-BE49-F238E27FC236}">
                <a16:creationId xmlns:a16="http://schemas.microsoft.com/office/drawing/2014/main" id="{7E74EDA9-7DB0-2DEC-F5C8-AA43D1325A7A}"/>
              </a:ext>
            </a:extLst>
          </p:cNvPr>
          <p:cNvCxnSpPr>
            <a:cxnSpLocks/>
            <a:stCxn id="28" idx="2"/>
            <a:endCxn id="27" idx="1"/>
          </p:cNvCxnSpPr>
          <p:nvPr/>
        </p:nvCxnSpPr>
        <p:spPr>
          <a:xfrm>
            <a:off x="5403442" y="2197875"/>
            <a:ext cx="770214" cy="1220858"/>
          </a:xfrm>
          <a:prstGeom prst="straightConnector1">
            <a:avLst/>
          </a:prstGeom>
          <a:ln w="38100">
            <a:solidFill>
              <a:srgbClr val="FF000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Đường kết nối Mũi tên Thẳng 30">
            <a:extLst>
              <a:ext uri="{FF2B5EF4-FFF2-40B4-BE49-F238E27FC236}">
                <a16:creationId xmlns:a16="http://schemas.microsoft.com/office/drawing/2014/main" id="{A0868C87-E2C0-F6FB-9DAA-28DDB3CD382A}"/>
              </a:ext>
            </a:extLst>
          </p:cNvPr>
          <p:cNvCxnSpPr>
            <a:cxnSpLocks/>
            <a:stCxn id="32" idx="2"/>
            <a:endCxn id="27" idx="3"/>
          </p:cNvCxnSpPr>
          <p:nvPr/>
        </p:nvCxnSpPr>
        <p:spPr>
          <a:xfrm flipH="1">
            <a:off x="7294629" y="2467933"/>
            <a:ext cx="813451" cy="950800"/>
          </a:xfrm>
          <a:prstGeom prst="straightConnector1">
            <a:avLst/>
          </a:prstGeom>
          <a:ln w="38100">
            <a:solidFill>
              <a:srgbClr val="FF000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2" name="Hình ảnh 31" descr="Màn hình Siemens KTP700 | HMI Siemens KTP400 | Màn hình Siemens KTP –  PLCSAIGON">
            <a:extLst>
              <a:ext uri="{FF2B5EF4-FFF2-40B4-BE49-F238E27FC236}">
                <a16:creationId xmlns:a16="http://schemas.microsoft.com/office/drawing/2014/main" id="{DC2F1994-7D93-D799-A175-3A8621773715}"/>
              </a:ext>
            </a:extLst>
          </p:cNvPr>
          <p:cNvPicPr>
            <a:picLocks noChangeAspect="1"/>
          </p:cNvPicPr>
          <p:nvPr/>
        </p:nvPicPr>
        <p:blipFill>
          <a:blip r:embed="rId5"/>
          <a:srcRect l="5371" t="13867" r="5373" b="17963"/>
          <a:stretch>
            <a:fillRect/>
          </a:stretch>
        </p:blipFill>
        <p:spPr>
          <a:xfrm>
            <a:off x="7291377" y="1220420"/>
            <a:ext cx="1633406" cy="1247513"/>
          </a:xfrm>
          <a:prstGeom prst="rect">
            <a:avLst/>
          </a:prstGeom>
        </p:spPr>
      </p:pic>
      <p:cxnSp>
        <p:nvCxnSpPr>
          <p:cNvPr id="33" name="Đường kết nối Mũi tên Thẳng 32">
            <a:extLst>
              <a:ext uri="{FF2B5EF4-FFF2-40B4-BE49-F238E27FC236}">
                <a16:creationId xmlns:a16="http://schemas.microsoft.com/office/drawing/2014/main" id="{8F594BC2-277C-F0B9-3B0F-633E223ABB30}"/>
              </a:ext>
            </a:extLst>
          </p:cNvPr>
          <p:cNvCxnSpPr>
            <a:cxnSpLocks/>
            <a:stCxn id="27" idx="2"/>
            <a:endCxn id="29" idx="0"/>
          </p:cNvCxnSpPr>
          <p:nvPr/>
        </p:nvCxnSpPr>
        <p:spPr>
          <a:xfrm>
            <a:off x="6734143" y="4059289"/>
            <a:ext cx="118" cy="374333"/>
          </a:xfrm>
          <a:prstGeom prst="straightConnector1">
            <a:avLst/>
          </a:prstGeom>
          <a:ln w="3810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Hộp Văn bản 33">
            <a:extLst>
              <a:ext uri="{FF2B5EF4-FFF2-40B4-BE49-F238E27FC236}">
                <a16:creationId xmlns:a16="http://schemas.microsoft.com/office/drawing/2014/main" id="{C4608D55-8BEF-2805-8BC8-0B2BBBBFAC47}"/>
              </a:ext>
            </a:extLst>
          </p:cNvPr>
          <p:cNvSpPr txBox="1"/>
          <p:nvPr/>
        </p:nvSpPr>
        <p:spPr>
          <a:xfrm rot="19669921">
            <a:off x="5605324" y="2691005"/>
            <a:ext cx="430887" cy="882614"/>
          </a:xfrm>
          <a:prstGeom prst="rect">
            <a:avLst/>
          </a:prstGeom>
          <a:noFill/>
        </p:spPr>
        <p:txBody>
          <a:bodyPr vert="eaVert" wrap="none" rtlCol="0">
            <a:spAutoFit/>
          </a:bodyPr>
          <a:lstStyle/>
          <a:p>
            <a:r>
              <a:rPr lang="en-US" sz="1600" dirty="0">
                <a:solidFill>
                  <a:srgbClr val="FF0000"/>
                </a:solidFill>
              </a:rPr>
              <a:t>S7 Comm</a:t>
            </a:r>
          </a:p>
        </p:txBody>
      </p:sp>
      <p:sp>
        <p:nvSpPr>
          <p:cNvPr id="35" name="Hộp Văn bản 34">
            <a:extLst>
              <a:ext uri="{FF2B5EF4-FFF2-40B4-BE49-F238E27FC236}">
                <a16:creationId xmlns:a16="http://schemas.microsoft.com/office/drawing/2014/main" id="{6961FE49-31C7-5AE7-8B71-9BA8E482D061}"/>
              </a:ext>
            </a:extLst>
          </p:cNvPr>
          <p:cNvSpPr txBox="1"/>
          <p:nvPr/>
        </p:nvSpPr>
        <p:spPr>
          <a:xfrm>
            <a:off x="4550434" y="3855335"/>
            <a:ext cx="840295" cy="369332"/>
          </a:xfrm>
          <a:prstGeom prst="rect">
            <a:avLst/>
          </a:prstGeom>
          <a:noFill/>
        </p:spPr>
        <p:txBody>
          <a:bodyPr wrap="none" rtlCol="0">
            <a:spAutoFit/>
          </a:bodyPr>
          <a:lstStyle/>
          <a:p>
            <a:r>
              <a:rPr lang="en-US" dirty="0"/>
              <a:t>Level 0</a:t>
            </a:r>
          </a:p>
        </p:txBody>
      </p:sp>
      <p:sp>
        <p:nvSpPr>
          <p:cNvPr id="36" name="Hộp Văn bản 35">
            <a:extLst>
              <a:ext uri="{FF2B5EF4-FFF2-40B4-BE49-F238E27FC236}">
                <a16:creationId xmlns:a16="http://schemas.microsoft.com/office/drawing/2014/main" id="{12B1B90C-B767-8FEA-FA6E-9590C544287F}"/>
              </a:ext>
            </a:extLst>
          </p:cNvPr>
          <p:cNvSpPr txBox="1"/>
          <p:nvPr/>
        </p:nvSpPr>
        <p:spPr>
          <a:xfrm>
            <a:off x="4520831" y="2306405"/>
            <a:ext cx="840295" cy="369332"/>
          </a:xfrm>
          <a:prstGeom prst="rect">
            <a:avLst/>
          </a:prstGeom>
          <a:noFill/>
        </p:spPr>
        <p:txBody>
          <a:bodyPr wrap="none" rtlCol="0">
            <a:spAutoFit/>
          </a:bodyPr>
          <a:lstStyle/>
          <a:p>
            <a:r>
              <a:rPr lang="en-US" dirty="0"/>
              <a:t>Level 1</a:t>
            </a:r>
          </a:p>
        </p:txBody>
      </p:sp>
      <p:sp>
        <p:nvSpPr>
          <p:cNvPr id="37" name="Hộp Văn bản 36">
            <a:extLst>
              <a:ext uri="{FF2B5EF4-FFF2-40B4-BE49-F238E27FC236}">
                <a16:creationId xmlns:a16="http://schemas.microsoft.com/office/drawing/2014/main" id="{CB6EFCC4-565D-2246-4F90-D0D698E1F5AA}"/>
              </a:ext>
            </a:extLst>
          </p:cNvPr>
          <p:cNvSpPr txBox="1"/>
          <p:nvPr/>
        </p:nvSpPr>
        <p:spPr>
          <a:xfrm>
            <a:off x="4970581" y="5853488"/>
            <a:ext cx="3659049" cy="369332"/>
          </a:xfrm>
          <a:prstGeom prst="rect">
            <a:avLst/>
          </a:prstGeom>
          <a:noFill/>
        </p:spPr>
        <p:txBody>
          <a:bodyPr wrap="square">
            <a:spAutoFit/>
          </a:bodyPr>
          <a:lstStyle/>
          <a:p>
            <a:r>
              <a:rPr lang="en-US" dirty="0"/>
              <a:t>S7 Comm in Purdue model IEC 62443</a:t>
            </a:r>
          </a:p>
        </p:txBody>
      </p:sp>
      <p:sp>
        <p:nvSpPr>
          <p:cNvPr id="38" name="Hộp Văn bản 37">
            <a:extLst>
              <a:ext uri="{FF2B5EF4-FFF2-40B4-BE49-F238E27FC236}">
                <a16:creationId xmlns:a16="http://schemas.microsoft.com/office/drawing/2014/main" id="{77F27FD1-C3DB-ADE9-FCB3-74EE63292B46}"/>
              </a:ext>
            </a:extLst>
          </p:cNvPr>
          <p:cNvSpPr txBox="1"/>
          <p:nvPr/>
        </p:nvSpPr>
        <p:spPr>
          <a:xfrm>
            <a:off x="147320" y="1671087"/>
            <a:ext cx="4338678" cy="3477875"/>
          </a:xfrm>
          <a:prstGeom prst="rect">
            <a:avLst/>
          </a:prstGeom>
          <a:noFill/>
        </p:spPr>
        <p:txBody>
          <a:bodyPr wrap="square">
            <a:spAutoFit/>
          </a:bodyPr>
          <a:lstStyle/>
          <a:p>
            <a:pPr marL="285750" indent="-285750">
              <a:buFont typeface="Arial" panose="020B0604020202020204" pitchFamily="34" charset="0"/>
              <a:buChar char="•"/>
            </a:pPr>
            <a:r>
              <a:rPr lang="en-US" sz="2000" i="0" dirty="0">
                <a:effectLst/>
                <a:latin typeface="Aptos" panose="020B0004020202020204" pitchFamily="34" charset="0"/>
              </a:rPr>
              <a:t>Proprietary Siemens protocol </a:t>
            </a:r>
            <a:r>
              <a:rPr lang="en-US" sz="2000" b="0" i="0" dirty="0">
                <a:effectLst/>
                <a:latin typeface="Aptos" panose="020B0004020202020204" pitchFamily="34" charset="0"/>
              </a:rPr>
              <a:t>for programming, monitoring, and control Siemens ecosystem over </a:t>
            </a:r>
            <a:r>
              <a:rPr lang="en-US" sz="2000" i="0" dirty="0">
                <a:effectLst/>
                <a:latin typeface="Aptos" panose="020B0004020202020204" pitchFamily="34" charset="0"/>
              </a:rPr>
              <a:t>TCP port 102</a:t>
            </a:r>
            <a:r>
              <a:rPr lang="en-US" sz="2000" dirty="0">
                <a:latin typeface="Aptos" panose="020B0004020202020204" pitchFamily="34" charset="0"/>
              </a:rPr>
              <a:t>, using </a:t>
            </a:r>
            <a:r>
              <a:rPr lang="en-US" sz="2000" b="0" i="0" dirty="0">
                <a:effectLst/>
                <a:latin typeface="Aptos" panose="020B0004020202020204" pitchFamily="34" charset="0"/>
              </a:rPr>
              <a:t>request –response model</a:t>
            </a:r>
          </a:p>
          <a:p>
            <a:pPr marL="285750" indent="-285750">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dirty="0">
                <a:latin typeface="Aptos" panose="020B0004020202020204" pitchFamily="34" charset="0"/>
              </a:rPr>
              <a:t>S7 Comm: PLC S7-200/300/400 with </a:t>
            </a:r>
            <a:r>
              <a:rPr lang="en-US" sz="2000" b="1" dirty="0">
                <a:solidFill>
                  <a:srgbClr val="FF0000"/>
                </a:solidFill>
                <a:latin typeface="Aptos" panose="020B0004020202020204" pitchFamily="34" charset="0"/>
              </a:rPr>
              <a:t>no authentication</a:t>
            </a:r>
            <a:r>
              <a:rPr lang="en-US" sz="2000" dirty="0">
                <a:latin typeface="Aptos" panose="020B0004020202020204" pitchFamily="34" charset="0"/>
              </a:rPr>
              <a:t>,</a:t>
            </a:r>
            <a:r>
              <a:rPr lang="en-US" sz="2000" b="1" dirty="0">
                <a:solidFill>
                  <a:srgbClr val="FF0000"/>
                </a:solidFill>
                <a:latin typeface="Aptos" panose="020B0004020202020204" pitchFamily="34" charset="0"/>
              </a:rPr>
              <a:t> no authorization</a:t>
            </a:r>
            <a:r>
              <a:rPr lang="en-US" sz="2000" dirty="0">
                <a:latin typeface="Aptos" panose="020B0004020202020204" pitchFamily="34" charset="0"/>
              </a:rPr>
              <a:t>,</a:t>
            </a:r>
            <a:r>
              <a:rPr lang="en-US" sz="2000" b="1" dirty="0">
                <a:solidFill>
                  <a:srgbClr val="FF0000"/>
                </a:solidFill>
                <a:latin typeface="Aptos" panose="020B0004020202020204" pitchFamily="34" charset="0"/>
              </a:rPr>
              <a:t> no encryption</a:t>
            </a:r>
          </a:p>
          <a:p>
            <a:pPr marL="285750" indent="-285750">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dirty="0">
                <a:latin typeface="Aptos" panose="020B0004020202020204" pitchFamily="34" charset="0"/>
              </a:rPr>
              <a:t>S7 Comm Plus: PLC S7-1200/1500</a:t>
            </a:r>
          </a:p>
        </p:txBody>
      </p:sp>
    </p:spTree>
    <p:extLst>
      <p:ext uri="{BB962C8B-B14F-4D97-AF65-F5344CB8AC3E}">
        <p14:creationId xmlns:p14="http://schemas.microsoft.com/office/powerpoint/2010/main" val="275135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8CBA-3305-5DD6-C901-61833C5D354E}"/>
            </a:ext>
          </a:extLst>
        </p:cNvPr>
        <p:cNvGrpSpPr/>
        <p:nvPr/>
      </p:nvGrpSpPr>
      <p:grpSpPr>
        <a:xfrm>
          <a:off x="0" y="0"/>
          <a:ext cx="0" cy="0"/>
          <a:chOff x="0" y="0"/>
          <a:chExt cx="0" cy="0"/>
        </a:xfrm>
      </p:grpSpPr>
      <p:sp>
        <p:nvSpPr>
          <p:cNvPr id="24" name="Slide Number Placeholder 4">
            <a:extLst>
              <a:ext uri="{FF2B5EF4-FFF2-40B4-BE49-F238E27FC236}">
                <a16:creationId xmlns:a16="http://schemas.microsoft.com/office/drawing/2014/main" id="{A769D16E-4657-B1EA-B15C-E537B6C72A57}"/>
              </a:ext>
            </a:extLst>
          </p:cNvPr>
          <p:cNvSpPr txBox="1">
            <a:spLocks/>
          </p:cNvSpPr>
          <p:nvPr/>
        </p:nvSpPr>
        <p:spPr>
          <a:xfrm>
            <a:off x="6867383" y="6492878"/>
            <a:ext cx="2057400" cy="365125"/>
          </a:xfrm>
          <a:prstGeom prst="rect">
            <a:avLst/>
          </a:prstGeom>
        </p:spPr>
        <p:txBody>
          <a:bodyPr/>
          <a:lstStyle>
            <a:defPPr>
              <a:defRPr lang="en-US"/>
            </a:defPPr>
            <a:lvl1pPr marL="0" algn="r" defTabSz="457200" rtl="0" eaLnBrk="1" latinLnBrk="0" hangingPunct="1">
              <a:defRPr sz="1200" b="1" kern="1200">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EA0BE3B-158A-4EDF-80DC-E394A0D1600F}" type="slidenum">
              <a:rPr lang="en-US" smtClean="0"/>
              <a:pPr/>
              <a:t>6</a:t>
            </a:fld>
            <a:endParaRPr lang="en-US"/>
          </a:p>
        </p:txBody>
      </p:sp>
      <p:sp>
        <p:nvSpPr>
          <p:cNvPr id="11" name="Title 1">
            <a:extLst>
              <a:ext uri="{FF2B5EF4-FFF2-40B4-BE49-F238E27FC236}">
                <a16:creationId xmlns:a16="http://schemas.microsoft.com/office/drawing/2014/main" id="{8BCB1DA6-F19B-ABF4-42A6-75D8C53DC79B}"/>
              </a:ext>
            </a:extLst>
          </p:cNvPr>
          <p:cNvSpPr txBox="1">
            <a:spLocks/>
          </p:cNvSpPr>
          <p:nvPr/>
        </p:nvSpPr>
        <p:spPr>
          <a:xfrm>
            <a:off x="254052" y="743262"/>
            <a:ext cx="2117673"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latin typeface="Aptos" panose="020B0004020202020204" pitchFamily="34" charset="0"/>
              </a:rPr>
              <a:t>Background</a:t>
            </a:r>
            <a:endParaRPr lang="en-US" b="0" dirty="0"/>
          </a:p>
          <a:p>
            <a:br>
              <a:rPr lang="en-US" sz="2400" dirty="0">
                <a:latin typeface="Aptos" panose="020B0004020202020204" pitchFamily="34" charset="0"/>
              </a:rPr>
            </a:br>
            <a:endParaRPr lang="en-US" sz="2400" dirty="0"/>
          </a:p>
        </p:txBody>
      </p:sp>
      <p:sp>
        <p:nvSpPr>
          <p:cNvPr id="12" name="Hộp Văn bản 11">
            <a:extLst>
              <a:ext uri="{FF2B5EF4-FFF2-40B4-BE49-F238E27FC236}">
                <a16:creationId xmlns:a16="http://schemas.microsoft.com/office/drawing/2014/main" id="{A3CA7C97-2904-3AC1-23CC-E966F07EC471}"/>
              </a:ext>
            </a:extLst>
          </p:cNvPr>
          <p:cNvSpPr txBox="1"/>
          <p:nvPr/>
        </p:nvSpPr>
        <p:spPr>
          <a:xfrm>
            <a:off x="254052" y="955527"/>
            <a:ext cx="8810627" cy="235628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Aptos" panose="020B0004020202020204" pitchFamily="34" charset="0"/>
              </a:rPr>
              <a:t>Runs on </a:t>
            </a:r>
            <a:r>
              <a:rPr lang="en-US" sz="2000" b="1" dirty="0">
                <a:solidFill>
                  <a:srgbClr val="FF0000"/>
                </a:solidFill>
                <a:latin typeface="Aptos" panose="020B0004020202020204" pitchFamily="34" charset="0"/>
              </a:rPr>
              <a:t>ISO-on-TCP</a:t>
            </a:r>
            <a:r>
              <a:rPr lang="en-US" sz="2000" b="1" dirty="0">
                <a:latin typeface="Aptos" panose="020B0004020202020204" pitchFamily="34" charset="0"/>
              </a:rPr>
              <a:t> </a:t>
            </a:r>
            <a:r>
              <a:rPr lang="en-US" sz="2000" dirty="0">
                <a:latin typeface="Aptos" panose="020B0004020202020204" pitchFamily="34" charset="0"/>
              </a:rPr>
              <a:t>over Profinet cable. Block-oriented protocol. Each block is called a PDU</a:t>
            </a:r>
          </a:p>
          <a:p>
            <a:pPr marL="285750" indent="-285750">
              <a:lnSpc>
                <a:spcPct val="150000"/>
              </a:lnSpc>
              <a:buFont typeface="Arial" panose="020B0604020202020204" pitchFamily="34" charset="0"/>
              <a:buChar char="•"/>
            </a:pPr>
            <a:r>
              <a:rPr lang="en-US" sz="2000" dirty="0">
                <a:latin typeface="Aptos" panose="020B0004020202020204" pitchFamily="34" charset="0"/>
              </a:rPr>
              <a:t>COTP establishes logical connection (compatible with TCP connection-oriented)</a:t>
            </a:r>
            <a:endParaRPr lang="en-US" sz="2000" b="0" i="0" dirty="0">
              <a:effectLst/>
              <a:latin typeface="Aptos" panose="020B0004020202020204" pitchFamily="34" charset="0"/>
            </a:endParaRPr>
          </a:p>
          <a:p>
            <a:pPr marL="285750" indent="-285750">
              <a:lnSpc>
                <a:spcPct val="150000"/>
              </a:lnSpc>
              <a:buFont typeface="Arial" panose="020B0604020202020204" pitchFamily="34" charset="0"/>
              <a:buChar char="•"/>
            </a:pPr>
            <a:r>
              <a:rPr lang="en-US" sz="2000" dirty="0">
                <a:latin typeface="Aptos" panose="020B0004020202020204" pitchFamily="34" charset="0"/>
              </a:rPr>
              <a:t>TPKT wrapper fixed-length package (compatible with TCP stream-based)</a:t>
            </a:r>
          </a:p>
        </p:txBody>
      </p:sp>
      <p:pic>
        <p:nvPicPr>
          <p:cNvPr id="13" name="Hình ảnh 12">
            <a:extLst>
              <a:ext uri="{FF2B5EF4-FFF2-40B4-BE49-F238E27FC236}">
                <a16:creationId xmlns:a16="http://schemas.microsoft.com/office/drawing/2014/main" id="{B654A511-8DB3-D096-8355-6D0924559217}"/>
              </a:ext>
            </a:extLst>
          </p:cNvPr>
          <p:cNvPicPr>
            <a:picLocks noChangeAspect="1"/>
          </p:cNvPicPr>
          <p:nvPr/>
        </p:nvPicPr>
        <p:blipFill>
          <a:blip r:embed="rId2"/>
          <a:srcRect b="15406"/>
          <a:stretch>
            <a:fillRect/>
          </a:stretch>
        </p:blipFill>
        <p:spPr>
          <a:xfrm>
            <a:off x="254053" y="3938320"/>
            <a:ext cx="8810626" cy="1928050"/>
          </a:xfrm>
          <a:prstGeom prst="rect">
            <a:avLst/>
          </a:prstGeom>
        </p:spPr>
      </p:pic>
      <p:sp>
        <p:nvSpPr>
          <p:cNvPr id="14" name="Title 1">
            <a:extLst>
              <a:ext uri="{FF2B5EF4-FFF2-40B4-BE49-F238E27FC236}">
                <a16:creationId xmlns:a16="http://schemas.microsoft.com/office/drawing/2014/main" id="{A8FD5001-9403-E6CA-69BB-E0BD33AA26A2}"/>
              </a:ext>
            </a:extLst>
          </p:cNvPr>
          <p:cNvSpPr txBox="1">
            <a:spLocks/>
          </p:cNvSpPr>
          <p:nvPr/>
        </p:nvSpPr>
        <p:spPr>
          <a:xfrm>
            <a:off x="254052" y="112542"/>
            <a:ext cx="8635896" cy="436099"/>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latin typeface="Aptos" panose="020B0004020202020204" pitchFamily="34" charset="0"/>
              </a:rPr>
              <a:t>2. Background theory </a:t>
            </a:r>
            <a:br>
              <a:rPr lang="en-US" dirty="0"/>
            </a:br>
            <a:br>
              <a:rPr lang="en-US" dirty="0">
                <a:latin typeface="Aptos" panose="020B0004020202020204" pitchFamily="34" charset="0"/>
              </a:rPr>
            </a:br>
            <a:endParaRPr lang="en-US" dirty="0"/>
          </a:p>
        </p:txBody>
      </p:sp>
    </p:spTree>
    <p:extLst>
      <p:ext uri="{BB962C8B-B14F-4D97-AF65-F5344CB8AC3E}">
        <p14:creationId xmlns:p14="http://schemas.microsoft.com/office/powerpoint/2010/main" val="285197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360A-15AA-65C0-1FE2-0ADF7544187F}"/>
            </a:ext>
          </a:extLst>
        </p:cNvPr>
        <p:cNvGrpSpPr/>
        <p:nvPr/>
      </p:nvGrpSpPr>
      <p:grpSpPr>
        <a:xfrm>
          <a:off x="0" y="0"/>
          <a:ext cx="0" cy="0"/>
          <a:chOff x="0" y="0"/>
          <a:chExt cx="0" cy="0"/>
        </a:xfrm>
      </p:grpSpPr>
      <p:sp>
        <p:nvSpPr>
          <p:cNvPr id="24" name="Slide Number Placeholder 4">
            <a:extLst>
              <a:ext uri="{FF2B5EF4-FFF2-40B4-BE49-F238E27FC236}">
                <a16:creationId xmlns:a16="http://schemas.microsoft.com/office/drawing/2014/main" id="{FA836A72-D627-4FF9-8FA8-62456753ED84}"/>
              </a:ext>
            </a:extLst>
          </p:cNvPr>
          <p:cNvSpPr txBox="1">
            <a:spLocks/>
          </p:cNvSpPr>
          <p:nvPr/>
        </p:nvSpPr>
        <p:spPr>
          <a:xfrm>
            <a:off x="6867383" y="6492878"/>
            <a:ext cx="2057400" cy="365125"/>
          </a:xfrm>
          <a:prstGeom prst="rect">
            <a:avLst/>
          </a:prstGeom>
        </p:spPr>
        <p:txBody>
          <a:bodyPr/>
          <a:lstStyle>
            <a:defPPr>
              <a:defRPr lang="en-US"/>
            </a:defPPr>
            <a:lvl1pPr marL="0" algn="r" defTabSz="457200" rtl="0" eaLnBrk="1" latinLnBrk="0" hangingPunct="1">
              <a:defRPr sz="1200" b="1" kern="1200">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EA0BE3B-158A-4EDF-80DC-E394A0D1600F}" type="slidenum">
              <a:rPr lang="en-US" smtClean="0"/>
              <a:pPr/>
              <a:t>7</a:t>
            </a:fld>
            <a:endParaRPr lang="en-US"/>
          </a:p>
        </p:txBody>
      </p:sp>
      <p:sp>
        <p:nvSpPr>
          <p:cNvPr id="11" name="Title 1">
            <a:extLst>
              <a:ext uri="{FF2B5EF4-FFF2-40B4-BE49-F238E27FC236}">
                <a16:creationId xmlns:a16="http://schemas.microsoft.com/office/drawing/2014/main" id="{49F39D4D-62C3-BFA2-9472-1BD66AAACC58}"/>
              </a:ext>
            </a:extLst>
          </p:cNvPr>
          <p:cNvSpPr txBox="1">
            <a:spLocks/>
          </p:cNvSpPr>
          <p:nvPr/>
        </p:nvSpPr>
        <p:spPr>
          <a:xfrm>
            <a:off x="254052" y="743262"/>
            <a:ext cx="2117673"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latin typeface="Aptos" panose="020B0004020202020204" pitchFamily="34" charset="0"/>
              </a:rPr>
              <a:t>Background</a:t>
            </a:r>
            <a:endParaRPr lang="en-US" b="0" dirty="0"/>
          </a:p>
          <a:p>
            <a:br>
              <a:rPr lang="en-US" sz="2400" dirty="0">
                <a:latin typeface="Aptos" panose="020B0004020202020204" pitchFamily="34" charset="0"/>
              </a:rPr>
            </a:br>
            <a:endParaRPr lang="en-US" sz="2400" dirty="0"/>
          </a:p>
        </p:txBody>
      </p:sp>
      <p:sp>
        <p:nvSpPr>
          <p:cNvPr id="14" name="Title 1">
            <a:extLst>
              <a:ext uri="{FF2B5EF4-FFF2-40B4-BE49-F238E27FC236}">
                <a16:creationId xmlns:a16="http://schemas.microsoft.com/office/drawing/2014/main" id="{FD6AF0C1-C959-72BA-583D-CCF65BFD35DB}"/>
              </a:ext>
            </a:extLst>
          </p:cNvPr>
          <p:cNvSpPr txBox="1">
            <a:spLocks/>
          </p:cNvSpPr>
          <p:nvPr/>
        </p:nvSpPr>
        <p:spPr>
          <a:xfrm>
            <a:off x="254052" y="112543"/>
            <a:ext cx="863589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latin typeface="Aptos" panose="020B0004020202020204" pitchFamily="34" charset="0"/>
              </a:rPr>
              <a:t>2. Background theory </a:t>
            </a:r>
            <a:br>
              <a:rPr lang="en-US" dirty="0"/>
            </a:br>
            <a:br>
              <a:rPr lang="en-US" dirty="0">
                <a:latin typeface="Aptos" panose="020B0004020202020204" pitchFamily="34" charset="0"/>
              </a:rPr>
            </a:br>
            <a:endParaRPr lang="en-US" dirty="0"/>
          </a:p>
        </p:txBody>
      </p:sp>
      <p:sp>
        <p:nvSpPr>
          <p:cNvPr id="3" name="Hộp Văn bản 2">
            <a:extLst>
              <a:ext uri="{FF2B5EF4-FFF2-40B4-BE49-F238E27FC236}">
                <a16:creationId xmlns:a16="http://schemas.microsoft.com/office/drawing/2014/main" id="{E826D466-317A-ABE5-8BF4-1CDFE2FA493B}"/>
              </a:ext>
            </a:extLst>
          </p:cNvPr>
          <p:cNvSpPr txBox="1"/>
          <p:nvPr/>
        </p:nvSpPr>
        <p:spPr>
          <a:xfrm>
            <a:off x="-2" y="814934"/>
            <a:ext cx="9248776" cy="281718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Aptos" panose="020B0004020202020204" pitchFamily="34" charset="0"/>
              </a:rPr>
              <a:t>IDS (Intrusion Detection System): monitor network traffic to alert on abnormal behaviors or unauthorize access.</a:t>
            </a:r>
          </a:p>
          <a:p>
            <a:pPr marL="285750" indent="-285750">
              <a:lnSpc>
                <a:spcPct val="150000"/>
              </a:lnSpc>
              <a:buFont typeface="Arial" panose="020B0604020202020204" pitchFamily="34" charset="0"/>
              <a:buChar char="•"/>
            </a:pPr>
            <a:r>
              <a:rPr lang="en-US" sz="2000" dirty="0">
                <a:latin typeface="Aptos" panose="020B0004020202020204" pitchFamily="34" charset="0"/>
              </a:rPr>
              <a:t>Categorize by detection method:</a:t>
            </a:r>
          </a:p>
          <a:p>
            <a:pPr marL="742950" lvl="1" indent="-285750">
              <a:lnSpc>
                <a:spcPct val="150000"/>
              </a:lnSpc>
              <a:buFont typeface="Arial" panose="020B0604020202020204" pitchFamily="34" charset="0"/>
              <a:buChar char="•"/>
            </a:pPr>
            <a:r>
              <a:rPr lang="en-US" sz="2000" b="1" dirty="0">
                <a:solidFill>
                  <a:srgbClr val="FF0000"/>
                </a:solidFill>
                <a:latin typeface="Aptos" panose="020B0004020202020204" pitchFamily="34" charset="0"/>
              </a:rPr>
              <a:t>Signatures-based</a:t>
            </a:r>
            <a:r>
              <a:rPr lang="en-US" sz="2000" dirty="0">
                <a:latin typeface="Aptos" panose="020B0004020202020204" pitchFamily="34" charset="0"/>
              </a:rPr>
              <a:t>: Using predefined rule </a:t>
            </a:r>
            <a:r>
              <a:rPr lang="en-US" sz="2000" dirty="0"/>
              <a:t>➡</a:t>
            </a:r>
            <a:r>
              <a:rPr lang="en-US" sz="2000" dirty="0">
                <a:latin typeface="Aptos" panose="020B0004020202020204" pitchFamily="34" charset="0"/>
              </a:rPr>
              <a:t> Stable, low false positive</a:t>
            </a:r>
          </a:p>
          <a:p>
            <a:pPr marL="742950" lvl="1" indent="-285750">
              <a:lnSpc>
                <a:spcPct val="150000"/>
              </a:lnSpc>
              <a:buFont typeface="Arial" panose="020B0604020202020204" pitchFamily="34" charset="0"/>
              <a:buChar char="•"/>
            </a:pPr>
            <a:r>
              <a:rPr lang="en-US" sz="2000" dirty="0">
                <a:latin typeface="Aptos" panose="020B0004020202020204" pitchFamily="34" charset="0"/>
              </a:rPr>
              <a:t>Anomaly-based: Compare again normal baseline </a:t>
            </a:r>
            <a:r>
              <a:rPr lang="en-US" sz="2000" dirty="0"/>
              <a:t>➡ Detect 0-day, high false positive</a:t>
            </a:r>
            <a:endParaRPr lang="en-US" sz="2000" dirty="0">
              <a:latin typeface="Aptos" panose="020B0004020202020204" pitchFamily="34" charset="0"/>
            </a:endParaRPr>
          </a:p>
        </p:txBody>
      </p:sp>
      <p:pic>
        <p:nvPicPr>
          <p:cNvPr id="5" name="Hình ảnh 4" descr="Branding Images - Suricata">
            <a:extLst>
              <a:ext uri="{FF2B5EF4-FFF2-40B4-BE49-F238E27FC236}">
                <a16:creationId xmlns:a16="http://schemas.microsoft.com/office/drawing/2014/main" id="{5DF5BF2B-54D4-C504-3A84-2591BCB24319}"/>
              </a:ext>
            </a:extLst>
          </p:cNvPr>
          <p:cNvPicPr>
            <a:picLocks noChangeAspect="1"/>
          </p:cNvPicPr>
          <p:nvPr/>
        </p:nvPicPr>
        <p:blipFill>
          <a:blip r:embed="rId2"/>
          <a:stretch>
            <a:fillRect/>
          </a:stretch>
        </p:blipFill>
        <p:spPr>
          <a:xfrm>
            <a:off x="1134663" y="4320133"/>
            <a:ext cx="6979445" cy="1722933"/>
          </a:xfrm>
          <a:prstGeom prst="rect">
            <a:avLst/>
          </a:prstGeom>
        </p:spPr>
      </p:pic>
    </p:spTree>
    <p:extLst>
      <p:ext uri="{BB962C8B-B14F-4D97-AF65-F5344CB8AC3E}">
        <p14:creationId xmlns:p14="http://schemas.microsoft.com/office/powerpoint/2010/main" val="110474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412CE-C35A-7B0D-B49E-FE42AE51F3CE}"/>
            </a:ext>
          </a:extLst>
        </p:cNvPr>
        <p:cNvGrpSpPr/>
        <p:nvPr/>
      </p:nvGrpSpPr>
      <p:grpSpPr>
        <a:xfrm>
          <a:off x="0" y="0"/>
          <a:ext cx="0" cy="0"/>
          <a:chOff x="0" y="0"/>
          <a:chExt cx="0" cy="0"/>
        </a:xfrm>
      </p:grpSpPr>
      <p:sp>
        <p:nvSpPr>
          <p:cNvPr id="24" name="Slide Number Placeholder 4">
            <a:extLst>
              <a:ext uri="{FF2B5EF4-FFF2-40B4-BE49-F238E27FC236}">
                <a16:creationId xmlns:a16="http://schemas.microsoft.com/office/drawing/2014/main" id="{64C23F49-B05D-E412-7EEE-E251EC2F7688}"/>
              </a:ext>
            </a:extLst>
          </p:cNvPr>
          <p:cNvSpPr txBox="1">
            <a:spLocks/>
          </p:cNvSpPr>
          <p:nvPr/>
        </p:nvSpPr>
        <p:spPr>
          <a:xfrm>
            <a:off x="6867383" y="6492878"/>
            <a:ext cx="2057400" cy="365125"/>
          </a:xfrm>
          <a:prstGeom prst="rect">
            <a:avLst/>
          </a:prstGeom>
        </p:spPr>
        <p:txBody>
          <a:bodyPr/>
          <a:lstStyle>
            <a:defPPr>
              <a:defRPr lang="en-US"/>
            </a:defPPr>
            <a:lvl1pPr marL="0" algn="r" defTabSz="457200" rtl="0" eaLnBrk="1" latinLnBrk="0" hangingPunct="1">
              <a:defRPr sz="1200" b="1" kern="1200">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EA0BE3B-158A-4EDF-80DC-E394A0D1600F}" type="slidenum">
              <a:rPr lang="en-US" smtClean="0"/>
              <a:pPr/>
              <a:t>8</a:t>
            </a:fld>
            <a:endParaRPr lang="en-US"/>
          </a:p>
        </p:txBody>
      </p:sp>
      <p:sp>
        <p:nvSpPr>
          <p:cNvPr id="11" name="Title 1">
            <a:extLst>
              <a:ext uri="{FF2B5EF4-FFF2-40B4-BE49-F238E27FC236}">
                <a16:creationId xmlns:a16="http://schemas.microsoft.com/office/drawing/2014/main" id="{18A898A3-3E09-C94B-F8A5-D6FA0411563E}"/>
              </a:ext>
            </a:extLst>
          </p:cNvPr>
          <p:cNvSpPr txBox="1">
            <a:spLocks/>
          </p:cNvSpPr>
          <p:nvPr/>
        </p:nvSpPr>
        <p:spPr>
          <a:xfrm>
            <a:off x="254052" y="743262"/>
            <a:ext cx="2117673"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latin typeface="Aptos" panose="020B0004020202020204" pitchFamily="34" charset="0"/>
              </a:rPr>
              <a:t>Background</a:t>
            </a:r>
            <a:endParaRPr lang="en-US" b="0" dirty="0"/>
          </a:p>
          <a:p>
            <a:br>
              <a:rPr lang="en-US" sz="2400" dirty="0">
                <a:latin typeface="Aptos" panose="020B0004020202020204" pitchFamily="34" charset="0"/>
              </a:rPr>
            </a:br>
            <a:endParaRPr lang="en-US" sz="2400" dirty="0"/>
          </a:p>
        </p:txBody>
      </p:sp>
      <p:sp>
        <p:nvSpPr>
          <p:cNvPr id="14" name="Title 1">
            <a:extLst>
              <a:ext uri="{FF2B5EF4-FFF2-40B4-BE49-F238E27FC236}">
                <a16:creationId xmlns:a16="http://schemas.microsoft.com/office/drawing/2014/main" id="{D34BCE54-92F9-7BE0-D232-0886BF0196BC}"/>
              </a:ext>
            </a:extLst>
          </p:cNvPr>
          <p:cNvSpPr txBox="1">
            <a:spLocks/>
          </p:cNvSpPr>
          <p:nvPr/>
        </p:nvSpPr>
        <p:spPr>
          <a:xfrm>
            <a:off x="254052" y="112543"/>
            <a:ext cx="863589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latin typeface="Aptos" panose="020B0004020202020204" pitchFamily="34" charset="0"/>
              </a:rPr>
              <a:t>3. Problem analysis</a:t>
            </a:r>
            <a:br>
              <a:rPr lang="en-US" dirty="0"/>
            </a:br>
            <a:br>
              <a:rPr lang="en-US" dirty="0">
                <a:latin typeface="Aptos" panose="020B0004020202020204" pitchFamily="34" charset="0"/>
              </a:rPr>
            </a:br>
            <a:endParaRPr lang="en-US" dirty="0"/>
          </a:p>
        </p:txBody>
      </p:sp>
      <p:graphicFrame>
        <p:nvGraphicFramePr>
          <p:cNvPr id="4" name="Bảng 3">
            <a:extLst>
              <a:ext uri="{FF2B5EF4-FFF2-40B4-BE49-F238E27FC236}">
                <a16:creationId xmlns:a16="http://schemas.microsoft.com/office/drawing/2014/main" id="{D7A74E9E-EEEF-9745-0D69-16BCF7DDBD72}"/>
              </a:ext>
            </a:extLst>
          </p:cNvPr>
          <p:cNvGraphicFramePr>
            <a:graphicFrameLocks noGrp="1"/>
          </p:cNvGraphicFramePr>
          <p:nvPr>
            <p:extLst>
              <p:ext uri="{D42A27DB-BD31-4B8C-83A1-F6EECF244321}">
                <p14:modId xmlns:p14="http://schemas.microsoft.com/office/powerpoint/2010/main" val="4128038862"/>
              </p:ext>
            </p:extLst>
          </p:nvPr>
        </p:nvGraphicFramePr>
        <p:xfrm>
          <a:off x="361950" y="961311"/>
          <a:ext cx="8420100" cy="5209420"/>
        </p:xfrm>
        <a:graphic>
          <a:graphicData uri="http://schemas.openxmlformats.org/drawingml/2006/table">
            <a:tbl>
              <a:tblPr firstRow="1" bandRow="1">
                <a:tableStyleId>{5C22544A-7EE6-4342-B048-85BDC9FD1C3A}</a:tableStyleId>
              </a:tblPr>
              <a:tblGrid>
                <a:gridCol w="2806700">
                  <a:extLst>
                    <a:ext uri="{9D8B030D-6E8A-4147-A177-3AD203B41FA5}">
                      <a16:colId xmlns:a16="http://schemas.microsoft.com/office/drawing/2014/main" val="3193305520"/>
                    </a:ext>
                  </a:extLst>
                </a:gridCol>
                <a:gridCol w="2806700">
                  <a:extLst>
                    <a:ext uri="{9D8B030D-6E8A-4147-A177-3AD203B41FA5}">
                      <a16:colId xmlns:a16="http://schemas.microsoft.com/office/drawing/2014/main" val="3416067074"/>
                    </a:ext>
                  </a:extLst>
                </a:gridCol>
                <a:gridCol w="2806700">
                  <a:extLst>
                    <a:ext uri="{9D8B030D-6E8A-4147-A177-3AD203B41FA5}">
                      <a16:colId xmlns:a16="http://schemas.microsoft.com/office/drawing/2014/main" val="4215773941"/>
                    </a:ext>
                  </a:extLst>
                </a:gridCol>
              </a:tblGrid>
              <a:tr h="50461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Aptos" panose="020B0004020202020204" pitchFamily="34" charset="0"/>
                        </a:rPr>
                        <a:t>Problem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Aptos" panose="020B0004020202020204" pitchFamily="34" charset="0"/>
                        </a:rPr>
                        <a:t>Impact</a:t>
                      </a:r>
                    </a:p>
                  </a:txBody>
                  <a:tcPr anchor="ctr"/>
                </a:tc>
                <a:tc>
                  <a:txBody>
                    <a:bodyPr/>
                    <a:lstStyle/>
                    <a:p>
                      <a:pPr algn="ctr"/>
                      <a:r>
                        <a:rPr lang="en-US" sz="1800" b="1" i="0" kern="1200" dirty="0">
                          <a:solidFill>
                            <a:schemeClr val="lt1"/>
                          </a:solidFill>
                          <a:effectLst/>
                          <a:latin typeface="Aptos" panose="020B0004020202020204" pitchFamily="34" charset="0"/>
                          <a:ea typeface="+mn-ea"/>
                          <a:cs typeface="+mn-cs"/>
                        </a:rPr>
                        <a:t>Proposed Response</a:t>
                      </a:r>
                      <a:endParaRPr lang="en-US" sz="1800" dirty="0">
                        <a:latin typeface="Aptos" panose="020B0004020202020204" pitchFamily="34" charset="0"/>
                      </a:endParaRPr>
                    </a:p>
                  </a:txBody>
                  <a:tcPr anchor="ctr"/>
                </a:tc>
                <a:extLst>
                  <a:ext uri="{0D108BD9-81ED-4DB2-BD59-A6C34878D82A}">
                    <a16:rowId xmlns:a16="http://schemas.microsoft.com/office/drawing/2014/main" val="48650474"/>
                  </a:ext>
                </a:extLst>
              </a:tr>
              <a:tr h="1458248">
                <a:tc>
                  <a:txBody>
                    <a:bodyPr/>
                    <a:lstStyle/>
                    <a:p>
                      <a:pPr algn="ctr"/>
                      <a:r>
                        <a:rPr lang="en-US" sz="1800" b="0" i="0" kern="1200" dirty="0">
                          <a:solidFill>
                            <a:schemeClr val="dk1"/>
                          </a:solidFill>
                          <a:effectLst/>
                          <a:latin typeface="Aptos" panose="020B0004020202020204" pitchFamily="34" charset="0"/>
                          <a:ea typeface="+mn-ea"/>
                          <a:cs typeface="+mn-cs"/>
                        </a:rPr>
                        <a:t>OT networks prioritize availability and real-time operation; inline security controls may introduce operational risk.</a:t>
                      </a:r>
                      <a:endParaRPr lang="en-US" sz="1800" dirty="0">
                        <a:latin typeface="Aptos" panose="020B00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Aptos" panose="020B0004020202020204" pitchFamily="34" charset="0"/>
                          <a:ea typeface="+mn-ea"/>
                          <a:cs typeface="+mn-cs"/>
                        </a:rPr>
                        <a:t>PLC communication monitor is often ignored</a:t>
                      </a:r>
                      <a:endParaRPr lang="en-US" sz="1800" dirty="0">
                        <a:latin typeface="Aptos" panose="020B0004020202020204" pitchFamily="34" charset="0"/>
                      </a:endParaRPr>
                    </a:p>
                  </a:txBody>
                  <a:tcPr anchor="ctr"/>
                </a:tc>
                <a:tc>
                  <a:txBody>
                    <a:bodyPr/>
                    <a:lstStyle/>
                    <a:p>
                      <a:pPr algn="ctr"/>
                      <a:r>
                        <a:rPr lang="en-US" sz="1800" dirty="0">
                          <a:latin typeface="Aptos" panose="020B0004020202020204" pitchFamily="34" charset="0"/>
                        </a:rPr>
                        <a:t>Deploy Suricata IDS in passive mode on SPAN port without affecting normal network operation</a:t>
                      </a:r>
                    </a:p>
                  </a:txBody>
                  <a:tcPr anchor="ctr"/>
                </a:tc>
                <a:extLst>
                  <a:ext uri="{0D108BD9-81ED-4DB2-BD59-A6C34878D82A}">
                    <a16:rowId xmlns:a16="http://schemas.microsoft.com/office/drawing/2014/main" val="1914101374"/>
                  </a:ext>
                </a:extLst>
              </a:tr>
              <a:tr h="1504404">
                <a:tc>
                  <a:txBody>
                    <a:bodyPr/>
                    <a:lstStyle/>
                    <a:p>
                      <a:pPr algn="ctr"/>
                      <a:r>
                        <a:rPr lang="en-US" sz="1800" b="0" i="0" kern="1200" dirty="0">
                          <a:solidFill>
                            <a:schemeClr val="dk1"/>
                          </a:solidFill>
                          <a:effectLst/>
                          <a:latin typeface="Aptos" panose="020B0004020202020204" pitchFamily="34" charset="0"/>
                          <a:ea typeface="+mn-ea"/>
                          <a:cs typeface="+mn-cs"/>
                        </a:rPr>
                        <a:t>Lack of authentication makes benign and malicious operation share the same protocol channel</a:t>
                      </a:r>
                      <a:endParaRPr lang="en-US" sz="1800" b="0" dirty="0">
                        <a:latin typeface="Aptos" panose="020B0004020202020204" pitchFamily="34" charset="0"/>
                      </a:endParaRPr>
                    </a:p>
                  </a:txBody>
                  <a:tcPr anchor="ctr"/>
                </a:tc>
                <a:tc>
                  <a:txBody>
                    <a:bodyPr/>
                    <a:lstStyle/>
                    <a:p>
                      <a:pPr algn="ctr"/>
                      <a:r>
                        <a:rPr lang="en-US" sz="1800" dirty="0">
                          <a:latin typeface="Aptos" panose="020B0004020202020204" pitchFamily="34" charset="0"/>
                        </a:rPr>
                        <a:t>PLC programs can be modified freely to </a:t>
                      </a:r>
                      <a:r>
                        <a:rPr lang="en-US" sz="1800" b="0" u="none" strike="noStrike" kern="1200" dirty="0">
                          <a:solidFill>
                            <a:schemeClr val="dk1"/>
                          </a:solidFill>
                          <a:effectLst/>
                          <a:latin typeface="Aptos" panose="020B0004020202020204" pitchFamily="34" charset="0"/>
                          <a:ea typeface="+mn-ea"/>
                          <a:cs typeface="+mn-cs"/>
                        </a:rPr>
                        <a:t>disrupt </a:t>
                      </a:r>
                      <a:r>
                        <a:rPr lang="en-US" sz="1800" dirty="0">
                          <a:latin typeface="Aptos" panose="020B0004020202020204" pitchFamily="34" charset="0"/>
                        </a:rPr>
                        <a:t>process line without much effort</a:t>
                      </a:r>
                    </a:p>
                  </a:txBody>
                  <a:tcPr anchor="ctr"/>
                </a:tc>
                <a:tc>
                  <a:txBody>
                    <a:bodyPr/>
                    <a:lstStyle/>
                    <a:p>
                      <a:pPr algn="ctr"/>
                      <a:r>
                        <a:rPr lang="en-US" sz="1800" b="0" i="0" kern="1200" dirty="0">
                          <a:solidFill>
                            <a:schemeClr val="dk1"/>
                          </a:solidFill>
                          <a:effectLst/>
                          <a:latin typeface="Aptos" panose="020B0004020202020204" pitchFamily="34" charset="0"/>
                          <a:ea typeface="+mn-ea"/>
                          <a:cs typeface="+mn-cs"/>
                        </a:rPr>
                        <a:t>Combine packet content, direction, source address, and traffic rate in detection rules  to minimize false positive rate</a:t>
                      </a:r>
                      <a:endParaRPr lang="en-US" sz="1800" b="0" dirty="0">
                        <a:latin typeface="Aptos" panose="020B0004020202020204" pitchFamily="34" charset="0"/>
                      </a:endParaRPr>
                    </a:p>
                  </a:txBody>
                  <a:tcPr anchor="ctr"/>
                </a:tc>
                <a:extLst>
                  <a:ext uri="{0D108BD9-81ED-4DB2-BD59-A6C34878D82A}">
                    <a16:rowId xmlns:a16="http://schemas.microsoft.com/office/drawing/2014/main" val="2130145043"/>
                  </a:ext>
                </a:extLst>
              </a:tr>
              <a:tr h="1504404">
                <a:tc>
                  <a:txBody>
                    <a:bodyPr/>
                    <a:lstStyle/>
                    <a:p>
                      <a:pPr algn="ctr"/>
                      <a:r>
                        <a:rPr lang="en-US" sz="1800" b="0" i="0" kern="1200" dirty="0">
                          <a:solidFill>
                            <a:schemeClr val="dk1"/>
                          </a:solidFill>
                          <a:effectLst/>
                          <a:latin typeface="Aptos" panose="020B0004020202020204" pitchFamily="34" charset="0"/>
                          <a:ea typeface="+mn-ea"/>
                          <a:cs typeface="+mn-cs"/>
                        </a:rPr>
                        <a:t>S7comm attacks are diverse. Limited docs due to the proprietary nature of the protocol</a:t>
                      </a:r>
                      <a:r>
                        <a:rPr lang="en-US" sz="1800" i="0" dirty="0">
                          <a:effectLst/>
                          <a:latin typeface="Aptos" panose="020B0004020202020204" pitchFamily="34" charset="0"/>
                        </a:rPr>
                        <a:t>. No sufficient public rulesets</a:t>
                      </a:r>
                      <a:endParaRPr lang="en-US" sz="1800" b="0" dirty="0">
                        <a:latin typeface="Aptos" panose="020B0004020202020204" pitchFamily="34" charset="0"/>
                      </a:endParaRPr>
                    </a:p>
                  </a:txBody>
                  <a:tcPr anchor="ctr"/>
                </a:tc>
                <a:tc>
                  <a:txBody>
                    <a:bodyPr/>
                    <a:lstStyle/>
                    <a:p>
                      <a:pPr algn="ctr"/>
                      <a:r>
                        <a:rPr lang="en-US" sz="1800" dirty="0">
                          <a:latin typeface="Aptos" panose="020B0004020202020204" pitchFamily="34" charset="0"/>
                        </a:rPr>
                        <a:t>General solutions/rulesets from IT side</a:t>
                      </a:r>
                      <a:r>
                        <a:rPr lang="en-US" sz="1800" b="0" i="0" kern="1200" dirty="0">
                          <a:solidFill>
                            <a:schemeClr val="dk1"/>
                          </a:solidFill>
                          <a:effectLst/>
                          <a:latin typeface="Aptos" panose="020B0004020202020204" pitchFamily="34" charset="0"/>
                          <a:ea typeface="+mn-ea"/>
                          <a:cs typeface="+mn-cs"/>
                        </a:rPr>
                        <a:t> are not sufficient for S7comm behavior and industrial context</a:t>
                      </a:r>
                      <a:endParaRPr lang="en-US" sz="1800" dirty="0">
                        <a:latin typeface="Aptos" panose="020B0004020202020204" pitchFamily="34" charset="0"/>
                      </a:endParaRPr>
                    </a:p>
                  </a:txBody>
                  <a:tcPr anchor="ctr"/>
                </a:tc>
                <a:tc>
                  <a:txBody>
                    <a:bodyPr/>
                    <a:lstStyle/>
                    <a:p>
                      <a:pPr algn="ctr"/>
                      <a:r>
                        <a:rPr lang="en-US" sz="1800" b="0" i="0" kern="1200" dirty="0">
                          <a:solidFill>
                            <a:schemeClr val="dk1"/>
                          </a:solidFill>
                          <a:effectLst/>
                          <a:latin typeface="Aptos" panose="020B0004020202020204" pitchFamily="34" charset="0"/>
                          <a:ea typeface="+mn-ea"/>
                          <a:cs typeface="+mn-cs"/>
                        </a:rPr>
                        <a:t>Build a scenario-based rule set covering some popular attack scenarios</a:t>
                      </a:r>
                      <a:endParaRPr lang="en-US" sz="1800" b="0" dirty="0">
                        <a:latin typeface="Aptos" panose="020B0004020202020204" pitchFamily="34" charset="0"/>
                      </a:endParaRPr>
                    </a:p>
                  </a:txBody>
                  <a:tcPr anchor="ctr"/>
                </a:tc>
                <a:extLst>
                  <a:ext uri="{0D108BD9-81ED-4DB2-BD59-A6C34878D82A}">
                    <a16:rowId xmlns:a16="http://schemas.microsoft.com/office/drawing/2014/main" val="3529154925"/>
                  </a:ext>
                </a:extLst>
              </a:tr>
            </a:tbl>
          </a:graphicData>
        </a:graphic>
      </p:graphicFrame>
    </p:spTree>
    <p:extLst>
      <p:ext uri="{BB962C8B-B14F-4D97-AF65-F5344CB8AC3E}">
        <p14:creationId xmlns:p14="http://schemas.microsoft.com/office/powerpoint/2010/main" val="611840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B5D3898E-7EAD-A726-CDA1-6D924AEAB348}"/>
              </a:ext>
            </a:extLst>
          </p:cNvPr>
          <p:cNvSpPr txBox="1">
            <a:spLocks/>
          </p:cNvSpPr>
          <p:nvPr/>
        </p:nvSpPr>
        <p:spPr>
          <a:xfrm>
            <a:off x="235077" y="735838"/>
            <a:ext cx="16984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t>Tools</a:t>
            </a:r>
          </a:p>
        </p:txBody>
      </p:sp>
      <p:sp>
        <p:nvSpPr>
          <p:cNvPr id="8" name="Hộp Văn bản 7">
            <a:extLst>
              <a:ext uri="{FF2B5EF4-FFF2-40B4-BE49-F238E27FC236}">
                <a16:creationId xmlns:a16="http://schemas.microsoft.com/office/drawing/2014/main" id="{98828001-BC8C-DE3C-466A-3430B0FB6ACA}"/>
              </a:ext>
            </a:extLst>
          </p:cNvPr>
          <p:cNvSpPr txBox="1"/>
          <p:nvPr/>
        </p:nvSpPr>
        <p:spPr>
          <a:xfrm>
            <a:off x="139827" y="1504525"/>
            <a:ext cx="5803774" cy="4093428"/>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Aptos" panose="020B0004020202020204" pitchFamily="34" charset="0"/>
              </a:rPr>
              <a:t> </a:t>
            </a:r>
            <a:r>
              <a:rPr lang="en-US" sz="2000" b="1" dirty="0">
                <a:solidFill>
                  <a:srgbClr val="FF0000"/>
                </a:solidFill>
                <a:latin typeface="Aptos" panose="020B0004020202020204" pitchFamily="34" charset="0"/>
              </a:rPr>
              <a:t>Open PLC</a:t>
            </a:r>
            <a:r>
              <a:rPr lang="en-US" sz="2000" dirty="0">
                <a:latin typeface="Aptos" panose="020B0004020202020204" pitchFamily="34" charset="0"/>
              </a:rPr>
              <a:t>:  open-source platform that simulates a physical PLC, supports 5  standard control programs under the IEC 61131-3 </a:t>
            </a:r>
          </a:p>
          <a:p>
            <a:pPr marL="742950" lvl="1" indent="-285750">
              <a:buFont typeface="Arial" panose="020B0604020202020204" pitchFamily="34" charset="0"/>
              <a:buChar char="•"/>
            </a:pPr>
            <a:r>
              <a:rPr lang="en-US" sz="2000" dirty="0">
                <a:latin typeface="Aptos" panose="020B0004020202020204" pitchFamily="34" charset="0"/>
              </a:rPr>
              <a:t>Open PLC Runtime V4 </a:t>
            </a:r>
          </a:p>
          <a:p>
            <a:pPr marL="742950" lvl="1" indent="-285750">
              <a:buFont typeface="Arial" panose="020B0604020202020204" pitchFamily="34" charset="0"/>
              <a:buChar char="•"/>
            </a:pPr>
            <a:r>
              <a:rPr lang="en-US" sz="2000" dirty="0">
                <a:latin typeface="Aptos" panose="020B0004020202020204" pitchFamily="34" charset="0"/>
              </a:rPr>
              <a:t>Open PLC Editor v4</a:t>
            </a:r>
          </a:p>
          <a:p>
            <a:pPr marL="742950" lvl="1" indent="-285750">
              <a:buFont typeface="Arial" panose="020B0604020202020204" pitchFamily="34" charset="0"/>
              <a:buChar char="•"/>
            </a:pPr>
            <a:endParaRPr lang="en-US" sz="2000" dirty="0">
              <a:latin typeface="Aptos" panose="020B0004020202020204" pitchFamily="34" charset="0"/>
            </a:endParaRPr>
          </a:p>
          <a:p>
            <a:pPr marL="342900" indent="-342900">
              <a:buFont typeface="Arial" panose="020B0604020202020204" pitchFamily="34" charset="0"/>
              <a:buChar char="•"/>
            </a:pPr>
            <a:r>
              <a:rPr lang="en-US" sz="2000" b="1" dirty="0">
                <a:solidFill>
                  <a:srgbClr val="FF0000"/>
                </a:solidFill>
                <a:latin typeface="Aptos" panose="020B0004020202020204" pitchFamily="34" charset="0"/>
              </a:rPr>
              <a:t>FUXA</a:t>
            </a:r>
            <a:r>
              <a:rPr lang="en-US" sz="2000" dirty="0">
                <a:latin typeface="Aptos" panose="020B0004020202020204" pitchFamily="34" charset="0"/>
              </a:rPr>
              <a:t>: open-source, web-based HMI that supports Siemens S7comm protocol</a:t>
            </a:r>
          </a:p>
          <a:p>
            <a:endParaRPr lang="en-US" sz="2000" dirty="0">
              <a:latin typeface="Aptos" panose="020B0004020202020204" pitchFamily="34" charset="0"/>
            </a:endParaRPr>
          </a:p>
          <a:p>
            <a:pPr marL="342900" indent="-342900">
              <a:buFont typeface="Arial" panose="020B0604020202020204" pitchFamily="34" charset="0"/>
              <a:buChar char="•"/>
            </a:pPr>
            <a:r>
              <a:rPr lang="en-US" sz="2000" b="1" dirty="0">
                <a:solidFill>
                  <a:srgbClr val="FF0000"/>
                </a:solidFill>
                <a:latin typeface="Aptos" panose="020B0004020202020204" pitchFamily="34" charset="0"/>
              </a:rPr>
              <a:t>Snap7</a:t>
            </a:r>
            <a:r>
              <a:rPr lang="en-US" sz="2000" dirty="0">
                <a:latin typeface="Aptos" panose="020B0004020202020204" pitchFamily="34" charset="0"/>
              </a:rPr>
              <a:t>: an open-source library developed to connect to, transmit data with, and control automation devices through popular industrial protocol, including S7 Comm.</a:t>
            </a:r>
          </a:p>
        </p:txBody>
      </p:sp>
      <p:pic>
        <p:nvPicPr>
          <p:cNvPr id="9" name="Hình ảnh 8" descr="Autonomy – Open-source PLC Software">
            <a:extLst>
              <a:ext uri="{FF2B5EF4-FFF2-40B4-BE49-F238E27FC236}">
                <a16:creationId xmlns:a16="http://schemas.microsoft.com/office/drawing/2014/main" id="{9F802EC0-695D-1DF3-B985-4ED284113D11}"/>
              </a:ext>
            </a:extLst>
          </p:cNvPr>
          <p:cNvPicPr>
            <a:picLocks noChangeAspect="1"/>
          </p:cNvPicPr>
          <p:nvPr/>
        </p:nvPicPr>
        <p:blipFill>
          <a:blip r:embed="rId2"/>
          <a:srcRect l="9400" t="59476" r="52200" b="24370"/>
          <a:stretch>
            <a:fillRect/>
          </a:stretch>
        </p:blipFill>
        <p:spPr>
          <a:xfrm>
            <a:off x="6477000" y="2456551"/>
            <a:ext cx="1828800" cy="600075"/>
          </a:xfrm>
          <a:prstGeom prst="rect">
            <a:avLst/>
          </a:prstGeom>
        </p:spPr>
      </p:pic>
      <p:pic>
        <p:nvPicPr>
          <p:cNvPr id="10" name="Hình ảnh 9" descr="Autonomy – Open-source PLC Software">
            <a:extLst>
              <a:ext uri="{FF2B5EF4-FFF2-40B4-BE49-F238E27FC236}">
                <a16:creationId xmlns:a16="http://schemas.microsoft.com/office/drawing/2014/main" id="{5E9CE8A1-64F4-1007-644A-BE24BBC94235}"/>
              </a:ext>
            </a:extLst>
          </p:cNvPr>
          <p:cNvPicPr>
            <a:picLocks noChangeAspect="1"/>
          </p:cNvPicPr>
          <p:nvPr/>
        </p:nvPicPr>
        <p:blipFill>
          <a:blip r:embed="rId2"/>
          <a:srcRect l="48400" t="60000" r="11400" b="25897"/>
          <a:stretch>
            <a:fillRect/>
          </a:stretch>
        </p:blipFill>
        <p:spPr>
          <a:xfrm>
            <a:off x="6391275" y="2026164"/>
            <a:ext cx="1914525" cy="523875"/>
          </a:xfrm>
          <a:prstGeom prst="rect">
            <a:avLst/>
          </a:prstGeom>
        </p:spPr>
      </p:pic>
      <p:pic>
        <p:nvPicPr>
          <p:cNvPr id="11" name="Hình ảnh 10" descr="FUXA Alternatives and Reviews">
            <a:extLst>
              <a:ext uri="{FF2B5EF4-FFF2-40B4-BE49-F238E27FC236}">
                <a16:creationId xmlns:a16="http://schemas.microsoft.com/office/drawing/2014/main" id="{F1EA4BD1-49A1-2F87-1EFC-7165B4408C37}"/>
              </a:ext>
            </a:extLst>
          </p:cNvPr>
          <p:cNvPicPr>
            <a:picLocks noChangeAspect="1"/>
          </p:cNvPicPr>
          <p:nvPr/>
        </p:nvPicPr>
        <p:blipFill>
          <a:blip r:embed="rId3"/>
          <a:stretch>
            <a:fillRect/>
          </a:stretch>
        </p:blipFill>
        <p:spPr>
          <a:xfrm>
            <a:off x="6629400" y="3202257"/>
            <a:ext cx="1039415" cy="1039415"/>
          </a:xfrm>
          <a:prstGeom prst="rect">
            <a:avLst/>
          </a:prstGeom>
        </p:spPr>
      </p:pic>
      <p:pic>
        <p:nvPicPr>
          <p:cNvPr id="12" name="Hình ảnh 11" descr="Simple use of the python SNAP7 lib: (now with real honeypot) | by biero  llagas | Medium">
            <a:extLst>
              <a:ext uri="{FF2B5EF4-FFF2-40B4-BE49-F238E27FC236}">
                <a16:creationId xmlns:a16="http://schemas.microsoft.com/office/drawing/2014/main" id="{14DA761F-F90F-5FCB-A569-AB889687F835}"/>
              </a:ext>
            </a:extLst>
          </p:cNvPr>
          <p:cNvPicPr>
            <a:picLocks noChangeAspect="1"/>
          </p:cNvPicPr>
          <p:nvPr/>
        </p:nvPicPr>
        <p:blipFill>
          <a:blip r:embed="rId4"/>
          <a:stretch>
            <a:fillRect/>
          </a:stretch>
        </p:blipFill>
        <p:spPr>
          <a:xfrm>
            <a:off x="6391275" y="4558538"/>
            <a:ext cx="1847849" cy="1039415"/>
          </a:xfrm>
          <a:prstGeom prst="rect">
            <a:avLst/>
          </a:prstGeom>
        </p:spPr>
      </p:pic>
    </p:spTree>
    <p:extLst>
      <p:ext uri="{BB962C8B-B14F-4D97-AF65-F5344CB8AC3E}">
        <p14:creationId xmlns:p14="http://schemas.microsoft.com/office/powerpoint/2010/main" val="134184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619F0-C1B1-73DC-1367-80170041EC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75CA62-F314-595F-EC53-66A7C01CFFAD}"/>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5" name="Title 4">
            <a:extLst>
              <a:ext uri="{FF2B5EF4-FFF2-40B4-BE49-F238E27FC236}">
                <a16:creationId xmlns:a16="http://schemas.microsoft.com/office/drawing/2014/main" id="{82B58BE3-3BB2-03E0-3CE9-0EF9DD23C0AA}"/>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2FB7AFEC-8C29-4490-021F-92C39D5F3411}"/>
              </a:ext>
            </a:extLst>
          </p:cNvPr>
          <p:cNvSpPr txBox="1">
            <a:spLocks/>
          </p:cNvSpPr>
          <p:nvPr/>
        </p:nvSpPr>
        <p:spPr>
          <a:xfrm>
            <a:off x="235077" y="735838"/>
            <a:ext cx="16984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t>Overview</a:t>
            </a:r>
          </a:p>
        </p:txBody>
      </p:sp>
      <p:sp>
        <p:nvSpPr>
          <p:cNvPr id="8" name="Hộp Văn bản 7">
            <a:extLst>
              <a:ext uri="{FF2B5EF4-FFF2-40B4-BE49-F238E27FC236}">
                <a16:creationId xmlns:a16="http://schemas.microsoft.com/office/drawing/2014/main" id="{E82023B8-6BE6-24FA-ACBE-7BFA35884AAF}"/>
              </a:ext>
            </a:extLst>
          </p:cNvPr>
          <p:cNvSpPr txBox="1"/>
          <p:nvPr/>
        </p:nvSpPr>
        <p:spPr>
          <a:xfrm>
            <a:off x="216028" y="1280392"/>
            <a:ext cx="8673845" cy="3693319"/>
          </a:xfrm>
          <a:prstGeom prst="rect">
            <a:avLst/>
          </a:prstGeom>
          <a:noFill/>
        </p:spPr>
        <p:txBody>
          <a:bodyPr wrap="square">
            <a:spAutoFit/>
          </a:bodyPr>
          <a:lstStyle/>
          <a:p>
            <a:pPr marL="457200" indent="-457200">
              <a:buFont typeface="+mj-lt"/>
              <a:buAutoNum type="arabicPeriod"/>
            </a:pPr>
            <a:r>
              <a:rPr lang="en-US" b="1" dirty="0">
                <a:solidFill>
                  <a:srgbClr val="FF0000"/>
                </a:solidFill>
                <a:latin typeface="Aptos" panose="020B0004020202020204" pitchFamily="34" charset="0"/>
              </a:rPr>
              <a:t>Deploy simulation</a:t>
            </a:r>
            <a:r>
              <a:rPr lang="en-US" dirty="0">
                <a:latin typeface="Aptos" panose="020B0004020202020204" pitchFamily="34" charset="0"/>
              </a:rPr>
              <a:t>: deploy the simulation environment on VMware </a:t>
            </a:r>
          </a:p>
          <a:p>
            <a:pPr marL="457200" indent="-457200">
              <a:buFont typeface="+mj-lt"/>
              <a:buAutoNum type="arabicPeriod"/>
            </a:pPr>
            <a:endParaRPr lang="en-US" dirty="0">
              <a:latin typeface="Aptos" panose="020B0004020202020204" pitchFamily="34" charset="0"/>
            </a:endParaRPr>
          </a:p>
          <a:p>
            <a:pPr marL="457200" indent="-457200">
              <a:buFont typeface="+mj-lt"/>
              <a:buAutoNum type="arabicPeriod"/>
            </a:pPr>
            <a:r>
              <a:rPr lang="en-US" b="1" dirty="0">
                <a:solidFill>
                  <a:srgbClr val="FF0000"/>
                </a:solidFill>
                <a:latin typeface="Aptos" panose="020B0004020202020204" pitchFamily="34" charset="0"/>
              </a:rPr>
              <a:t>Building attack modules</a:t>
            </a:r>
            <a:r>
              <a:rPr lang="en-US" dirty="0">
                <a:latin typeface="Aptos" panose="020B0004020202020204" pitchFamily="34" charset="0"/>
              </a:rPr>
              <a:t>: using Snap 7  and tools to build attack scenarios</a:t>
            </a:r>
          </a:p>
          <a:p>
            <a:pPr marL="457200" indent="-457200">
              <a:buFont typeface="+mj-lt"/>
              <a:buAutoNum type="arabicPeriod"/>
            </a:pPr>
            <a:endParaRPr lang="en-US" dirty="0">
              <a:latin typeface="Aptos" panose="020B0004020202020204" pitchFamily="34" charset="0"/>
            </a:endParaRPr>
          </a:p>
          <a:p>
            <a:pPr marL="457200" indent="-457200">
              <a:buFont typeface="+mj-lt"/>
              <a:buAutoNum type="arabicPeriod"/>
            </a:pPr>
            <a:r>
              <a:rPr lang="en-US" b="1" dirty="0">
                <a:solidFill>
                  <a:srgbClr val="FF0000"/>
                </a:solidFill>
                <a:latin typeface="Aptos" panose="020B0004020202020204" pitchFamily="34" charset="0"/>
              </a:rPr>
              <a:t>Traffic collection and analysis</a:t>
            </a:r>
            <a:r>
              <a:rPr lang="en-US" dirty="0">
                <a:latin typeface="Aptos" panose="020B0004020202020204" pitchFamily="34" charset="0"/>
              </a:rPr>
              <a:t>: capture network traffic with Wireshark, analyze S7comm packet structure</a:t>
            </a:r>
          </a:p>
          <a:p>
            <a:pPr marL="457200" indent="-457200">
              <a:buFont typeface="+mj-lt"/>
              <a:buAutoNum type="arabicPeriod"/>
            </a:pPr>
            <a:endParaRPr lang="en-US" dirty="0">
              <a:latin typeface="Aptos" panose="020B0004020202020204" pitchFamily="34" charset="0"/>
            </a:endParaRPr>
          </a:p>
          <a:p>
            <a:pPr marL="457200" indent="-457200">
              <a:buFont typeface="+mj-lt"/>
              <a:buAutoNum type="arabicPeriod"/>
            </a:pPr>
            <a:r>
              <a:rPr lang="en-US" b="1" dirty="0">
                <a:solidFill>
                  <a:srgbClr val="FF0000"/>
                </a:solidFill>
                <a:latin typeface="Aptos" panose="020B0004020202020204" pitchFamily="34" charset="0"/>
              </a:rPr>
              <a:t>Detection rule development</a:t>
            </a:r>
            <a:r>
              <a:rPr lang="en-US" dirty="0">
                <a:latin typeface="Aptos" panose="020B0004020202020204" pitchFamily="34" charset="0"/>
              </a:rPr>
              <a:t>: convert observed indicators into Suricata signatures based on byte offsets, function codes, frequency thresholds, and abnormal syntax.</a:t>
            </a:r>
          </a:p>
          <a:p>
            <a:pPr marL="457200" indent="-457200">
              <a:buFont typeface="+mj-lt"/>
              <a:buAutoNum type="arabicPeriod"/>
            </a:pPr>
            <a:endParaRPr lang="en-US" dirty="0">
              <a:latin typeface="Aptos" panose="020B0004020202020204" pitchFamily="34" charset="0"/>
            </a:endParaRPr>
          </a:p>
          <a:p>
            <a:pPr marL="457200" indent="-457200">
              <a:buFont typeface="+mj-lt"/>
              <a:buAutoNum type="arabicPeriod"/>
            </a:pPr>
            <a:r>
              <a:rPr lang="en-US" b="1" dirty="0">
                <a:solidFill>
                  <a:srgbClr val="FF0000"/>
                </a:solidFill>
                <a:latin typeface="Aptos" panose="020B0004020202020204" pitchFamily="34" charset="0"/>
              </a:rPr>
              <a:t>IDS testing</a:t>
            </a:r>
            <a:r>
              <a:rPr lang="en-US" dirty="0">
                <a:latin typeface="Aptos" panose="020B0004020202020204" pitchFamily="34" charset="0"/>
              </a:rPr>
              <a:t>: run Suricata on traffic copies and compare alerts with each simulated scenario.</a:t>
            </a:r>
          </a:p>
        </p:txBody>
      </p:sp>
      <p:pic>
        <p:nvPicPr>
          <p:cNvPr id="7" name="Hình ảnh 6" descr="Vmware Workstation Logo Png - Free Transparent PNG Clipart Images Download">
            <a:extLst>
              <a:ext uri="{FF2B5EF4-FFF2-40B4-BE49-F238E27FC236}">
                <a16:creationId xmlns:a16="http://schemas.microsoft.com/office/drawing/2014/main" id="{7330608B-FFBF-33A6-49E2-90BC50811939}"/>
              </a:ext>
            </a:extLst>
          </p:cNvPr>
          <p:cNvPicPr>
            <a:picLocks noChangeAspect="1"/>
          </p:cNvPicPr>
          <p:nvPr/>
        </p:nvPicPr>
        <p:blipFill>
          <a:blip r:embed="rId2"/>
          <a:srcRect l="26390" t="6900" r="26588" b="7643"/>
          <a:stretch>
            <a:fillRect/>
          </a:stretch>
        </p:blipFill>
        <p:spPr>
          <a:xfrm>
            <a:off x="807259" y="5163636"/>
            <a:ext cx="832931" cy="848786"/>
          </a:xfrm>
          <a:prstGeom prst="rect">
            <a:avLst/>
          </a:prstGeom>
        </p:spPr>
      </p:pic>
      <p:pic>
        <p:nvPicPr>
          <p:cNvPr id="14" name="Hình ảnh 13">
            <a:extLst>
              <a:ext uri="{FF2B5EF4-FFF2-40B4-BE49-F238E27FC236}">
                <a16:creationId xmlns:a16="http://schemas.microsoft.com/office/drawing/2014/main" id="{43D47408-2DC7-9D40-4DC2-560E9F2932F9}"/>
              </a:ext>
            </a:extLst>
          </p:cNvPr>
          <p:cNvPicPr>
            <a:picLocks noChangeAspect="1"/>
          </p:cNvPicPr>
          <p:nvPr/>
        </p:nvPicPr>
        <p:blipFill>
          <a:blip r:embed="rId3"/>
          <a:stretch>
            <a:fillRect/>
          </a:stretch>
        </p:blipFill>
        <p:spPr>
          <a:xfrm>
            <a:off x="2635449" y="5153140"/>
            <a:ext cx="848786" cy="848786"/>
          </a:xfrm>
          <a:prstGeom prst="rect">
            <a:avLst/>
          </a:prstGeom>
        </p:spPr>
      </p:pic>
      <p:pic>
        <p:nvPicPr>
          <p:cNvPr id="15" name="Hình ảnh 14">
            <a:extLst>
              <a:ext uri="{FF2B5EF4-FFF2-40B4-BE49-F238E27FC236}">
                <a16:creationId xmlns:a16="http://schemas.microsoft.com/office/drawing/2014/main" id="{FD74C7BD-746D-A358-E579-102E0466BEDC}"/>
              </a:ext>
            </a:extLst>
          </p:cNvPr>
          <p:cNvPicPr>
            <a:picLocks noChangeAspect="1"/>
          </p:cNvPicPr>
          <p:nvPr/>
        </p:nvPicPr>
        <p:blipFill>
          <a:blip r:embed="rId4"/>
          <a:srcRect l="7048" t="5482" r="8836" b="4560"/>
          <a:stretch>
            <a:fillRect/>
          </a:stretch>
        </p:blipFill>
        <p:spPr>
          <a:xfrm>
            <a:off x="4351944" y="5142641"/>
            <a:ext cx="832932" cy="890780"/>
          </a:xfrm>
          <a:prstGeom prst="rect">
            <a:avLst/>
          </a:prstGeom>
        </p:spPr>
      </p:pic>
      <p:pic>
        <p:nvPicPr>
          <p:cNvPr id="17" name="Hình ảnh 16">
            <a:extLst>
              <a:ext uri="{FF2B5EF4-FFF2-40B4-BE49-F238E27FC236}">
                <a16:creationId xmlns:a16="http://schemas.microsoft.com/office/drawing/2014/main" id="{B854BCAE-6283-2D64-2FB0-FF9EB1256837}"/>
              </a:ext>
            </a:extLst>
          </p:cNvPr>
          <p:cNvPicPr>
            <a:picLocks noChangeAspect="1"/>
          </p:cNvPicPr>
          <p:nvPr/>
        </p:nvPicPr>
        <p:blipFill>
          <a:blip r:embed="rId5"/>
          <a:stretch>
            <a:fillRect/>
          </a:stretch>
        </p:blipFill>
        <p:spPr>
          <a:xfrm>
            <a:off x="6052585" y="5211014"/>
            <a:ext cx="754033" cy="754033"/>
          </a:xfrm>
          <a:prstGeom prst="rect">
            <a:avLst/>
          </a:prstGeom>
        </p:spPr>
      </p:pic>
      <p:pic>
        <p:nvPicPr>
          <p:cNvPr id="19" name="Hình ảnh 18" descr="Branding Images - Suricata">
            <a:extLst>
              <a:ext uri="{FF2B5EF4-FFF2-40B4-BE49-F238E27FC236}">
                <a16:creationId xmlns:a16="http://schemas.microsoft.com/office/drawing/2014/main" id="{A6114372-EE9F-6509-DA23-6CA49F481712}"/>
              </a:ext>
            </a:extLst>
          </p:cNvPr>
          <p:cNvPicPr>
            <a:picLocks noChangeAspect="1"/>
          </p:cNvPicPr>
          <p:nvPr/>
        </p:nvPicPr>
        <p:blipFill>
          <a:blip r:embed="rId6"/>
          <a:srcRect l="999" t="4115" r="70402"/>
          <a:stretch>
            <a:fillRect/>
          </a:stretch>
        </p:blipFill>
        <p:spPr>
          <a:xfrm>
            <a:off x="7674327" y="5233968"/>
            <a:ext cx="866780" cy="717407"/>
          </a:xfrm>
          <a:prstGeom prst="rect">
            <a:avLst/>
          </a:prstGeom>
        </p:spPr>
      </p:pic>
      <p:cxnSp>
        <p:nvCxnSpPr>
          <p:cNvPr id="21" name="Đường kết nối Mũi tên Thẳng 20">
            <a:extLst>
              <a:ext uri="{FF2B5EF4-FFF2-40B4-BE49-F238E27FC236}">
                <a16:creationId xmlns:a16="http://schemas.microsoft.com/office/drawing/2014/main" id="{CB9BE12D-8044-0EA3-12E2-008DCE7E7306}"/>
              </a:ext>
            </a:extLst>
          </p:cNvPr>
          <p:cNvCxnSpPr>
            <a:stCxn id="7" idx="3"/>
            <a:endCxn id="14" idx="1"/>
          </p:cNvCxnSpPr>
          <p:nvPr/>
        </p:nvCxnSpPr>
        <p:spPr>
          <a:xfrm flipV="1">
            <a:off x="1640190" y="5577533"/>
            <a:ext cx="995259" cy="104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Đường kết nối Mũi tên Thẳng 22">
            <a:extLst>
              <a:ext uri="{FF2B5EF4-FFF2-40B4-BE49-F238E27FC236}">
                <a16:creationId xmlns:a16="http://schemas.microsoft.com/office/drawing/2014/main" id="{4A0A1188-4BB9-9705-60A3-AD37B28AD727}"/>
              </a:ext>
            </a:extLst>
          </p:cNvPr>
          <p:cNvCxnSpPr>
            <a:cxnSpLocks/>
            <a:stCxn id="14" idx="3"/>
            <a:endCxn id="15" idx="1"/>
          </p:cNvCxnSpPr>
          <p:nvPr/>
        </p:nvCxnSpPr>
        <p:spPr>
          <a:xfrm>
            <a:off x="3484235" y="5577533"/>
            <a:ext cx="867709" cy="104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Đường kết nối Mũi tên Thẳng 25">
            <a:extLst>
              <a:ext uri="{FF2B5EF4-FFF2-40B4-BE49-F238E27FC236}">
                <a16:creationId xmlns:a16="http://schemas.microsoft.com/office/drawing/2014/main" id="{69A700C8-6DED-E5CC-C77F-61DCB6B977D3}"/>
              </a:ext>
            </a:extLst>
          </p:cNvPr>
          <p:cNvCxnSpPr>
            <a:cxnSpLocks/>
            <a:stCxn id="15" idx="3"/>
            <a:endCxn id="17" idx="1"/>
          </p:cNvCxnSpPr>
          <p:nvPr/>
        </p:nvCxnSpPr>
        <p:spPr>
          <a:xfrm>
            <a:off x="5184876" y="5588031"/>
            <a:ext cx="86770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Đường kết nối Mũi tên Thẳng 28">
            <a:extLst>
              <a:ext uri="{FF2B5EF4-FFF2-40B4-BE49-F238E27FC236}">
                <a16:creationId xmlns:a16="http://schemas.microsoft.com/office/drawing/2014/main" id="{01E7ABB9-61BA-2423-3326-76269927C63F}"/>
              </a:ext>
            </a:extLst>
          </p:cNvPr>
          <p:cNvCxnSpPr>
            <a:cxnSpLocks/>
            <a:stCxn id="17" idx="3"/>
            <a:endCxn id="19" idx="1"/>
          </p:cNvCxnSpPr>
          <p:nvPr/>
        </p:nvCxnSpPr>
        <p:spPr>
          <a:xfrm>
            <a:off x="6806618" y="5588031"/>
            <a:ext cx="867709" cy="46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Hộp Văn bản 44">
            <a:extLst>
              <a:ext uri="{FF2B5EF4-FFF2-40B4-BE49-F238E27FC236}">
                <a16:creationId xmlns:a16="http://schemas.microsoft.com/office/drawing/2014/main" id="{0E5390E0-6936-BCC0-11DB-41343572F735}"/>
              </a:ext>
            </a:extLst>
          </p:cNvPr>
          <p:cNvSpPr txBox="1"/>
          <p:nvPr/>
        </p:nvSpPr>
        <p:spPr>
          <a:xfrm>
            <a:off x="1002349" y="5951375"/>
            <a:ext cx="442750" cy="369332"/>
          </a:xfrm>
          <a:prstGeom prst="rect">
            <a:avLst/>
          </a:prstGeom>
          <a:noFill/>
        </p:spPr>
        <p:txBody>
          <a:bodyPr wrap="none" rtlCol="0">
            <a:spAutoFit/>
          </a:bodyPr>
          <a:lstStyle/>
          <a:p>
            <a:r>
              <a:rPr lang="en-US" dirty="0"/>
              <a:t>[1]</a:t>
            </a:r>
          </a:p>
        </p:txBody>
      </p:sp>
      <p:sp>
        <p:nvSpPr>
          <p:cNvPr id="47" name="Hộp Văn bản 46">
            <a:extLst>
              <a:ext uri="{FF2B5EF4-FFF2-40B4-BE49-F238E27FC236}">
                <a16:creationId xmlns:a16="http://schemas.microsoft.com/office/drawing/2014/main" id="{1A11511B-ADBF-D351-382E-E3BC523C4B30}"/>
              </a:ext>
            </a:extLst>
          </p:cNvPr>
          <p:cNvSpPr txBox="1"/>
          <p:nvPr/>
        </p:nvSpPr>
        <p:spPr>
          <a:xfrm>
            <a:off x="2819616" y="5987148"/>
            <a:ext cx="442750" cy="369332"/>
          </a:xfrm>
          <a:prstGeom prst="rect">
            <a:avLst/>
          </a:prstGeom>
          <a:noFill/>
        </p:spPr>
        <p:txBody>
          <a:bodyPr wrap="none" rtlCol="0">
            <a:spAutoFit/>
          </a:bodyPr>
          <a:lstStyle/>
          <a:p>
            <a:r>
              <a:rPr lang="en-US" dirty="0"/>
              <a:t>[2]</a:t>
            </a:r>
          </a:p>
        </p:txBody>
      </p:sp>
      <p:sp>
        <p:nvSpPr>
          <p:cNvPr id="49" name="Hộp Văn bản 48">
            <a:extLst>
              <a:ext uri="{FF2B5EF4-FFF2-40B4-BE49-F238E27FC236}">
                <a16:creationId xmlns:a16="http://schemas.microsoft.com/office/drawing/2014/main" id="{A0B7DB41-B162-7645-A322-148D4986FC95}"/>
              </a:ext>
            </a:extLst>
          </p:cNvPr>
          <p:cNvSpPr txBox="1"/>
          <p:nvPr/>
        </p:nvSpPr>
        <p:spPr>
          <a:xfrm>
            <a:off x="7886342" y="5951375"/>
            <a:ext cx="442750" cy="369332"/>
          </a:xfrm>
          <a:prstGeom prst="rect">
            <a:avLst/>
          </a:prstGeom>
          <a:noFill/>
        </p:spPr>
        <p:txBody>
          <a:bodyPr wrap="none" rtlCol="0">
            <a:spAutoFit/>
          </a:bodyPr>
          <a:lstStyle/>
          <a:p>
            <a:r>
              <a:rPr lang="en-US" dirty="0"/>
              <a:t>[5]</a:t>
            </a:r>
          </a:p>
        </p:txBody>
      </p:sp>
      <p:sp>
        <p:nvSpPr>
          <p:cNvPr id="51" name="Hộp Văn bản 50">
            <a:extLst>
              <a:ext uri="{FF2B5EF4-FFF2-40B4-BE49-F238E27FC236}">
                <a16:creationId xmlns:a16="http://schemas.microsoft.com/office/drawing/2014/main" id="{D2DF7DE4-5F0E-5AAA-374D-DD040850A7C1}"/>
              </a:ext>
            </a:extLst>
          </p:cNvPr>
          <p:cNvSpPr txBox="1"/>
          <p:nvPr/>
        </p:nvSpPr>
        <p:spPr>
          <a:xfrm>
            <a:off x="6208226" y="5953772"/>
            <a:ext cx="442750" cy="369332"/>
          </a:xfrm>
          <a:prstGeom prst="rect">
            <a:avLst/>
          </a:prstGeom>
          <a:noFill/>
        </p:spPr>
        <p:txBody>
          <a:bodyPr wrap="none" rtlCol="0">
            <a:spAutoFit/>
          </a:bodyPr>
          <a:lstStyle/>
          <a:p>
            <a:r>
              <a:rPr lang="en-US" dirty="0"/>
              <a:t>[4]</a:t>
            </a:r>
          </a:p>
        </p:txBody>
      </p:sp>
      <p:sp>
        <p:nvSpPr>
          <p:cNvPr id="53" name="Hộp Văn bản 52">
            <a:extLst>
              <a:ext uri="{FF2B5EF4-FFF2-40B4-BE49-F238E27FC236}">
                <a16:creationId xmlns:a16="http://schemas.microsoft.com/office/drawing/2014/main" id="{503C69E6-DF23-14EB-5B6B-DCE188052C1F}"/>
              </a:ext>
            </a:extLst>
          </p:cNvPr>
          <p:cNvSpPr txBox="1"/>
          <p:nvPr/>
        </p:nvSpPr>
        <p:spPr>
          <a:xfrm>
            <a:off x="4540724" y="5951375"/>
            <a:ext cx="442750"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2453146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14A5-5ACC-DF09-4E76-D5339CF02D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05D51-532B-D49F-A18F-A3FF92137A0A}"/>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5" name="Title 4">
            <a:extLst>
              <a:ext uri="{FF2B5EF4-FFF2-40B4-BE49-F238E27FC236}">
                <a16:creationId xmlns:a16="http://schemas.microsoft.com/office/drawing/2014/main" id="{BBA1F3D5-1269-DD48-7687-D2F945751BF1}"/>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1BD72EB8-AEBF-25F0-28D9-04AB4606D923}"/>
              </a:ext>
            </a:extLst>
          </p:cNvPr>
          <p:cNvSpPr txBox="1">
            <a:spLocks/>
          </p:cNvSpPr>
          <p:nvPr/>
        </p:nvSpPr>
        <p:spPr>
          <a:xfrm>
            <a:off x="235077" y="754888"/>
            <a:ext cx="42511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Aptos" panose="020B0004020202020204" pitchFamily="34" charset="0"/>
              </a:rPr>
              <a:t>Deploy simulation</a:t>
            </a:r>
            <a:endParaRPr lang="en-US" sz="2000" dirty="0"/>
          </a:p>
        </p:txBody>
      </p:sp>
      <p:pic>
        <p:nvPicPr>
          <p:cNvPr id="4" name="Hình ảnh 3">
            <a:extLst>
              <a:ext uri="{FF2B5EF4-FFF2-40B4-BE49-F238E27FC236}">
                <a16:creationId xmlns:a16="http://schemas.microsoft.com/office/drawing/2014/main" id="{2945F848-CBAE-53BA-6496-6EBB14B1C32A}"/>
              </a:ext>
            </a:extLst>
          </p:cNvPr>
          <p:cNvPicPr>
            <a:picLocks noChangeAspect="1"/>
          </p:cNvPicPr>
          <p:nvPr/>
        </p:nvPicPr>
        <p:blipFill>
          <a:blip r:embed="rId2"/>
          <a:stretch>
            <a:fillRect/>
          </a:stretch>
        </p:blipFill>
        <p:spPr>
          <a:xfrm>
            <a:off x="192207" y="1479900"/>
            <a:ext cx="8759585" cy="4291013"/>
          </a:xfrm>
          <a:prstGeom prst="rect">
            <a:avLst/>
          </a:prstGeom>
        </p:spPr>
      </p:pic>
      <p:sp>
        <p:nvSpPr>
          <p:cNvPr id="9" name="Hộp Văn bản 8">
            <a:extLst>
              <a:ext uri="{FF2B5EF4-FFF2-40B4-BE49-F238E27FC236}">
                <a16:creationId xmlns:a16="http://schemas.microsoft.com/office/drawing/2014/main" id="{F083BD93-1AB9-07D4-67E4-17A43AC48EB6}"/>
              </a:ext>
            </a:extLst>
          </p:cNvPr>
          <p:cNvSpPr txBox="1"/>
          <p:nvPr/>
        </p:nvSpPr>
        <p:spPr>
          <a:xfrm>
            <a:off x="2828925" y="5903057"/>
            <a:ext cx="3314700" cy="400110"/>
          </a:xfrm>
          <a:prstGeom prst="rect">
            <a:avLst/>
          </a:prstGeom>
          <a:noFill/>
        </p:spPr>
        <p:txBody>
          <a:bodyPr wrap="square">
            <a:spAutoFit/>
          </a:bodyPr>
          <a:lstStyle/>
          <a:p>
            <a:r>
              <a:rPr lang="en-US" sz="2000" b="0" i="1" dirty="0">
                <a:effectLst/>
                <a:latin typeface="Aptos" panose="020B0004020202020204" pitchFamily="34" charset="0"/>
              </a:rPr>
              <a:t>Simulation network topology</a:t>
            </a:r>
            <a:endParaRPr lang="en-US" sz="2000" i="1" dirty="0">
              <a:latin typeface="Aptos" panose="020B0004020202020204" pitchFamily="34" charset="0"/>
            </a:endParaRPr>
          </a:p>
        </p:txBody>
      </p:sp>
    </p:spTree>
    <p:extLst>
      <p:ext uri="{BB962C8B-B14F-4D97-AF65-F5344CB8AC3E}">
        <p14:creationId xmlns:p14="http://schemas.microsoft.com/office/powerpoint/2010/main" val="4049626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BB9A4-56F4-03FA-0248-3FED884789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8F62F4-1A3E-8B68-6C9A-5A4435344863}"/>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5" name="Title 4">
            <a:extLst>
              <a:ext uri="{FF2B5EF4-FFF2-40B4-BE49-F238E27FC236}">
                <a16:creationId xmlns:a16="http://schemas.microsoft.com/office/drawing/2014/main" id="{C0E97920-C226-18A0-3C8D-199070181BC7}"/>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0D2781ED-CBB9-39BB-0F91-4625B8723795}"/>
              </a:ext>
            </a:extLst>
          </p:cNvPr>
          <p:cNvSpPr txBox="1">
            <a:spLocks/>
          </p:cNvSpPr>
          <p:nvPr/>
        </p:nvSpPr>
        <p:spPr>
          <a:xfrm>
            <a:off x="235077" y="754888"/>
            <a:ext cx="42511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Aptos" panose="020B0004020202020204" pitchFamily="34" charset="0"/>
              </a:rPr>
              <a:t>Building attack modules</a:t>
            </a:r>
            <a:endParaRPr lang="en-US" sz="2000" dirty="0"/>
          </a:p>
        </p:txBody>
      </p:sp>
      <p:sp>
        <p:nvSpPr>
          <p:cNvPr id="7" name="Hộp Văn bản 6">
            <a:extLst>
              <a:ext uri="{FF2B5EF4-FFF2-40B4-BE49-F238E27FC236}">
                <a16:creationId xmlns:a16="http://schemas.microsoft.com/office/drawing/2014/main" id="{428F03B0-32B9-7D53-CDE9-EC2398F32466}"/>
              </a:ext>
            </a:extLst>
          </p:cNvPr>
          <p:cNvSpPr txBox="1"/>
          <p:nvPr/>
        </p:nvSpPr>
        <p:spPr>
          <a:xfrm>
            <a:off x="357187" y="1235113"/>
            <a:ext cx="8429626" cy="4867999"/>
          </a:xfrm>
          <a:prstGeom prst="rect">
            <a:avLst/>
          </a:prstGeom>
          <a:noFill/>
        </p:spPr>
        <p:txBody>
          <a:bodyPr wrap="square">
            <a:spAutoFit/>
          </a:bodyPr>
          <a:lstStyle/>
          <a:p>
            <a:pPr marL="342900" indent="-342900">
              <a:spcBef>
                <a:spcPts val="450"/>
              </a:spcBef>
              <a:spcAft>
                <a:spcPts val="450"/>
              </a:spcAft>
              <a:buFont typeface="Arial" panose="020B0604020202020204" pitchFamily="34" charset="0"/>
              <a:buChar char="•"/>
            </a:pPr>
            <a:r>
              <a:rPr lang="en-US" dirty="0">
                <a:latin typeface="Aptos" panose="020B0004020202020204" pitchFamily="34" charset="0"/>
              </a:rPr>
              <a:t>Adversarial attacks represent common attack behaviors against typical OT networks</a:t>
            </a:r>
          </a:p>
          <a:p>
            <a:pPr marL="342900" indent="-342900">
              <a:spcBef>
                <a:spcPts val="450"/>
              </a:spcBef>
              <a:spcAft>
                <a:spcPts val="450"/>
              </a:spcAft>
              <a:buFont typeface="Arial" panose="020B0604020202020204" pitchFamily="34" charset="0"/>
              <a:buChar char="•"/>
            </a:pPr>
            <a:r>
              <a:rPr lang="en-US" dirty="0">
                <a:latin typeface="Aptos" panose="020B0004020202020204" pitchFamily="34" charset="0"/>
              </a:rPr>
              <a:t>Attack categories:</a:t>
            </a:r>
          </a:p>
          <a:p>
            <a:pPr marL="800100" lvl="1" indent="-342900">
              <a:spcBef>
                <a:spcPts val="450"/>
              </a:spcBef>
              <a:spcAft>
                <a:spcPts val="450"/>
              </a:spcAft>
              <a:buFont typeface="Arial" panose="020B0604020202020204" pitchFamily="34" charset="0"/>
              <a:buChar char="•"/>
            </a:pPr>
            <a:r>
              <a:rPr lang="en-US" b="1" dirty="0">
                <a:solidFill>
                  <a:srgbClr val="FF0000"/>
                </a:solidFill>
                <a:latin typeface="Aptos" panose="020B0004020202020204" pitchFamily="34" charset="0"/>
              </a:rPr>
              <a:t>Reconnaissance</a:t>
            </a:r>
            <a:r>
              <a:rPr lang="en-US" dirty="0">
                <a:latin typeface="Aptos" panose="020B0004020202020204" pitchFamily="34" charset="0"/>
              </a:rPr>
              <a:t>: discover PLC services through TCP/102 scanning, SZL reading, and block enumeration</a:t>
            </a:r>
          </a:p>
          <a:p>
            <a:pPr marL="800100" lvl="1" indent="-342900">
              <a:spcBef>
                <a:spcPts val="450"/>
              </a:spcBef>
              <a:spcAft>
                <a:spcPts val="450"/>
              </a:spcAft>
              <a:buFont typeface="Arial" panose="020B0604020202020204" pitchFamily="34" charset="0"/>
              <a:buChar char="•"/>
            </a:pPr>
            <a:r>
              <a:rPr lang="en-US" b="1" dirty="0">
                <a:solidFill>
                  <a:srgbClr val="FF0000"/>
                </a:solidFill>
                <a:latin typeface="Aptos" panose="020B0004020202020204" pitchFamily="34" charset="0"/>
              </a:rPr>
              <a:t>Process manipulation</a:t>
            </a:r>
            <a:r>
              <a:rPr lang="en-US" dirty="0">
                <a:latin typeface="Aptos" panose="020B0004020202020204" pitchFamily="34" charset="0"/>
              </a:rPr>
              <a:t>: modify process variables using unauthorized </a:t>
            </a:r>
            <a:r>
              <a:rPr lang="en-US" dirty="0" err="1">
                <a:latin typeface="Aptos" panose="020B0004020202020204" pitchFamily="34" charset="0"/>
              </a:rPr>
              <a:t>WriteVar</a:t>
            </a:r>
            <a:r>
              <a:rPr lang="en-US" dirty="0">
                <a:latin typeface="Aptos" panose="020B0004020202020204" pitchFamily="34" charset="0"/>
              </a:rPr>
              <a:t> and spoofed </a:t>
            </a:r>
            <a:r>
              <a:rPr lang="en-US" dirty="0" err="1">
                <a:latin typeface="Aptos" panose="020B0004020202020204" pitchFamily="34" charset="0"/>
              </a:rPr>
              <a:t>ReadVar</a:t>
            </a:r>
            <a:r>
              <a:rPr lang="en-US" dirty="0">
                <a:latin typeface="Aptos" panose="020B0004020202020204" pitchFamily="34" charset="0"/>
              </a:rPr>
              <a:t> operations</a:t>
            </a:r>
          </a:p>
          <a:p>
            <a:pPr marL="800100" lvl="1" indent="-342900">
              <a:spcBef>
                <a:spcPts val="450"/>
              </a:spcBef>
              <a:spcAft>
                <a:spcPts val="450"/>
              </a:spcAft>
              <a:buFont typeface="Arial" panose="020B0604020202020204" pitchFamily="34" charset="0"/>
              <a:buChar char="•"/>
            </a:pPr>
            <a:r>
              <a:rPr lang="en-US" b="1" dirty="0">
                <a:solidFill>
                  <a:srgbClr val="FF0000"/>
                </a:solidFill>
                <a:latin typeface="Aptos" panose="020B0004020202020204" pitchFamily="34" charset="0"/>
              </a:rPr>
              <a:t>Program transfer</a:t>
            </a:r>
            <a:r>
              <a:rPr lang="en-US" dirty="0">
                <a:latin typeface="Aptos" panose="020B0004020202020204" pitchFamily="34" charset="0"/>
              </a:rPr>
              <a:t>: unauthorized upload and download of PLC program blocks</a:t>
            </a:r>
          </a:p>
          <a:p>
            <a:pPr marL="800100" lvl="1" indent="-342900">
              <a:spcBef>
                <a:spcPts val="450"/>
              </a:spcBef>
              <a:spcAft>
                <a:spcPts val="450"/>
              </a:spcAft>
              <a:buFont typeface="Arial" panose="020B0604020202020204" pitchFamily="34" charset="0"/>
              <a:buChar char="•"/>
            </a:pPr>
            <a:r>
              <a:rPr lang="en-US" b="1" dirty="0">
                <a:solidFill>
                  <a:srgbClr val="FF0000"/>
                </a:solidFill>
                <a:latin typeface="Aptos" panose="020B0004020202020204" pitchFamily="34" charset="0"/>
              </a:rPr>
              <a:t>Command injection</a:t>
            </a:r>
            <a:r>
              <a:rPr lang="en-US" dirty="0">
                <a:latin typeface="Aptos" panose="020B0004020202020204" pitchFamily="34" charset="0"/>
              </a:rPr>
              <a:t>: abuse PLC control functions by sending Start/Stop commands</a:t>
            </a:r>
          </a:p>
          <a:p>
            <a:pPr marL="800100" lvl="1" indent="-342900">
              <a:spcBef>
                <a:spcPts val="450"/>
              </a:spcBef>
              <a:spcAft>
                <a:spcPts val="450"/>
              </a:spcAft>
              <a:buFont typeface="Arial" panose="020B0604020202020204" pitchFamily="34" charset="0"/>
              <a:buChar char="•"/>
            </a:pPr>
            <a:r>
              <a:rPr lang="en-US" b="1" dirty="0">
                <a:solidFill>
                  <a:srgbClr val="FF0000"/>
                </a:solidFill>
                <a:latin typeface="Aptos" panose="020B0004020202020204" pitchFamily="34" charset="0"/>
              </a:rPr>
              <a:t>Denial of Service</a:t>
            </a:r>
            <a:r>
              <a:rPr lang="en-US" dirty="0">
                <a:latin typeface="Aptos" panose="020B0004020202020204" pitchFamily="34" charset="0"/>
              </a:rPr>
              <a:t>: overload PLC communication using high-rate S7 functions and TCP SYN flooding</a:t>
            </a:r>
          </a:p>
          <a:p>
            <a:pPr marL="800100" lvl="1" indent="-342900">
              <a:spcBef>
                <a:spcPts val="450"/>
              </a:spcBef>
              <a:spcAft>
                <a:spcPts val="450"/>
              </a:spcAft>
              <a:buFont typeface="Arial" panose="020B0604020202020204" pitchFamily="34" charset="0"/>
              <a:buChar char="•"/>
            </a:pPr>
            <a:r>
              <a:rPr lang="en-US" b="1" dirty="0">
                <a:solidFill>
                  <a:srgbClr val="FF0000"/>
                </a:solidFill>
                <a:latin typeface="Aptos" panose="020B0004020202020204" pitchFamily="34" charset="0"/>
              </a:rPr>
              <a:t>Malformed S7comm packets</a:t>
            </a:r>
            <a:r>
              <a:rPr lang="en-US" dirty="0">
                <a:latin typeface="Aptos" panose="020B0004020202020204" pitchFamily="34" charset="0"/>
              </a:rPr>
              <a:t>: </a:t>
            </a:r>
            <a:r>
              <a:rPr lang="en-US" dirty="0"/>
              <a:t>Crafts structurally invalid TPKT/COTP/S7</a:t>
            </a:r>
            <a:endParaRPr lang="en-US" i="0" dirty="0">
              <a:effectLst/>
              <a:latin typeface="Aptos" panose="020B0004020202020204" pitchFamily="34" charset="0"/>
            </a:endParaRPr>
          </a:p>
        </p:txBody>
      </p:sp>
    </p:spTree>
    <p:extLst>
      <p:ext uri="{BB962C8B-B14F-4D97-AF65-F5344CB8AC3E}">
        <p14:creationId xmlns:p14="http://schemas.microsoft.com/office/powerpoint/2010/main" val="1054040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F352E-E076-CD5F-7E18-9295FEC0FF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72729C-2340-0FF9-4A4A-C4F7AB432640}"/>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5" name="Title 4">
            <a:extLst>
              <a:ext uri="{FF2B5EF4-FFF2-40B4-BE49-F238E27FC236}">
                <a16:creationId xmlns:a16="http://schemas.microsoft.com/office/drawing/2014/main" id="{BA868D6F-6B0E-4794-3D71-FBB59EB826EC}"/>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78D240AB-9947-6BD0-E16D-D1D17772F3BC}"/>
              </a:ext>
            </a:extLst>
          </p:cNvPr>
          <p:cNvSpPr txBox="1">
            <a:spLocks/>
          </p:cNvSpPr>
          <p:nvPr/>
        </p:nvSpPr>
        <p:spPr>
          <a:xfrm>
            <a:off x="235077" y="754888"/>
            <a:ext cx="42511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Aptos" panose="020B0004020202020204" pitchFamily="34" charset="0"/>
              </a:rPr>
              <a:t>Traffic collection and analysis</a:t>
            </a:r>
            <a:endParaRPr lang="en-US" sz="2000" dirty="0"/>
          </a:p>
        </p:txBody>
      </p:sp>
    </p:spTree>
    <p:extLst>
      <p:ext uri="{BB962C8B-B14F-4D97-AF65-F5344CB8AC3E}">
        <p14:creationId xmlns:p14="http://schemas.microsoft.com/office/powerpoint/2010/main" val="1016275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D2F9F-C6CD-A098-A4F8-35515E310F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768C5B-E451-5256-F771-A4B83412C1DE}"/>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5" name="Title 4">
            <a:extLst>
              <a:ext uri="{FF2B5EF4-FFF2-40B4-BE49-F238E27FC236}">
                <a16:creationId xmlns:a16="http://schemas.microsoft.com/office/drawing/2014/main" id="{7231563D-7411-0154-70DE-C7C9FB9790B9}"/>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5C6CC9BA-0262-863F-0552-40FDA0D46D02}"/>
              </a:ext>
            </a:extLst>
          </p:cNvPr>
          <p:cNvSpPr txBox="1">
            <a:spLocks/>
          </p:cNvSpPr>
          <p:nvPr/>
        </p:nvSpPr>
        <p:spPr>
          <a:xfrm>
            <a:off x="235077" y="754888"/>
            <a:ext cx="42511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Aptos" panose="020B0004020202020204" pitchFamily="34" charset="0"/>
              </a:rPr>
              <a:t>Detection rule development</a:t>
            </a:r>
            <a:endParaRPr lang="en-US" sz="2000" dirty="0"/>
          </a:p>
        </p:txBody>
      </p:sp>
    </p:spTree>
    <p:extLst>
      <p:ext uri="{BB962C8B-B14F-4D97-AF65-F5344CB8AC3E}">
        <p14:creationId xmlns:p14="http://schemas.microsoft.com/office/powerpoint/2010/main" val="2267438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65856-77E5-3CFE-49FD-605DB55F61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3FCE81-793B-BD98-D823-06378114CB56}"/>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5" name="Title 4">
            <a:extLst>
              <a:ext uri="{FF2B5EF4-FFF2-40B4-BE49-F238E27FC236}">
                <a16:creationId xmlns:a16="http://schemas.microsoft.com/office/drawing/2014/main" id="{F532389D-D94F-69C0-6B6B-0ADE3D316D39}"/>
              </a:ext>
            </a:extLst>
          </p:cNvPr>
          <p:cNvSpPr>
            <a:spLocks noGrp="1"/>
          </p:cNvSpPr>
          <p:nvPr>
            <p:ph type="title"/>
          </p:nvPr>
        </p:nvSpPr>
        <p:spPr/>
        <p:txBody>
          <a:bodyPr/>
          <a:lstStyle/>
          <a:p>
            <a:r>
              <a:rPr lang="en-US" dirty="0">
                <a:latin typeface="Aptos" panose="020B0004020202020204" pitchFamily="34" charset="0"/>
              </a:rPr>
              <a:t>4. System &amp; methodology</a:t>
            </a:r>
            <a:endParaRPr lang="en-US" dirty="0"/>
          </a:p>
        </p:txBody>
      </p:sp>
      <p:sp>
        <p:nvSpPr>
          <p:cNvPr id="6" name="Title 4">
            <a:extLst>
              <a:ext uri="{FF2B5EF4-FFF2-40B4-BE49-F238E27FC236}">
                <a16:creationId xmlns:a16="http://schemas.microsoft.com/office/drawing/2014/main" id="{F8C71CB9-ADD3-965B-4A56-A3F3F1945542}"/>
              </a:ext>
            </a:extLst>
          </p:cNvPr>
          <p:cNvSpPr txBox="1">
            <a:spLocks/>
          </p:cNvSpPr>
          <p:nvPr/>
        </p:nvSpPr>
        <p:spPr>
          <a:xfrm>
            <a:off x="235077" y="754888"/>
            <a:ext cx="4251198" cy="365125"/>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Aptos" panose="020B0004020202020204" pitchFamily="34" charset="0"/>
              </a:rPr>
              <a:t>IDS testing</a:t>
            </a:r>
            <a:endParaRPr lang="en-US" sz="2000" dirty="0"/>
          </a:p>
        </p:txBody>
      </p:sp>
    </p:spTree>
    <p:extLst>
      <p:ext uri="{BB962C8B-B14F-4D97-AF65-F5344CB8AC3E}">
        <p14:creationId xmlns:p14="http://schemas.microsoft.com/office/powerpoint/2010/main" val="2484074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DC954-6E1D-AF75-D998-2C0AB78A4F75}"/>
            </a:ext>
          </a:extLst>
        </p:cNvPr>
        <p:cNvGrpSpPr/>
        <p:nvPr/>
      </p:nvGrpSpPr>
      <p:grpSpPr>
        <a:xfrm>
          <a:off x="0" y="0"/>
          <a:ext cx="0" cy="0"/>
          <a:chOff x="0" y="0"/>
          <a:chExt cx="0" cy="0"/>
        </a:xfrm>
      </p:grpSpPr>
      <p:sp>
        <p:nvSpPr>
          <p:cNvPr id="24" name="Slide Number Placeholder 4">
            <a:extLst>
              <a:ext uri="{FF2B5EF4-FFF2-40B4-BE49-F238E27FC236}">
                <a16:creationId xmlns:a16="http://schemas.microsoft.com/office/drawing/2014/main" id="{009E3FD3-5534-BFA5-613F-9F6F4A40CE76}"/>
              </a:ext>
            </a:extLst>
          </p:cNvPr>
          <p:cNvSpPr txBox="1">
            <a:spLocks/>
          </p:cNvSpPr>
          <p:nvPr/>
        </p:nvSpPr>
        <p:spPr>
          <a:xfrm>
            <a:off x="6867383" y="6492878"/>
            <a:ext cx="2057400" cy="365125"/>
          </a:xfrm>
          <a:prstGeom prst="rect">
            <a:avLst/>
          </a:prstGeom>
        </p:spPr>
        <p:txBody>
          <a:bodyPr/>
          <a:lstStyle>
            <a:defPPr>
              <a:defRPr lang="en-US"/>
            </a:defPPr>
            <a:lvl1pPr marL="0" algn="r" defTabSz="457200" rtl="0" eaLnBrk="1" latinLnBrk="0" hangingPunct="1">
              <a:defRPr sz="1200" b="1" kern="1200">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EA0BE3B-158A-4EDF-80DC-E394A0D1600F}" type="slidenum">
              <a:rPr lang="en-US" smtClean="0"/>
              <a:pPr/>
              <a:t>16</a:t>
            </a:fld>
            <a:endParaRPr lang="en-US"/>
          </a:p>
        </p:txBody>
      </p:sp>
      <p:sp>
        <p:nvSpPr>
          <p:cNvPr id="11" name="Title 1">
            <a:extLst>
              <a:ext uri="{FF2B5EF4-FFF2-40B4-BE49-F238E27FC236}">
                <a16:creationId xmlns:a16="http://schemas.microsoft.com/office/drawing/2014/main" id="{DF49EB84-5C67-F82F-9F49-D7D114E7B58E}"/>
              </a:ext>
            </a:extLst>
          </p:cNvPr>
          <p:cNvSpPr txBox="1">
            <a:spLocks/>
          </p:cNvSpPr>
          <p:nvPr/>
        </p:nvSpPr>
        <p:spPr>
          <a:xfrm>
            <a:off x="254052" y="743262"/>
            <a:ext cx="2117673"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latin typeface="Aptos" panose="020B0004020202020204" pitchFamily="34" charset="0"/>
              </a:rPr>
              <a:t>Background</a:t>
            </a:r>
            <a:endParaRPr lang="en-US" b="0" dirty="0"/>
          </a:p>
          <a:p>
            <a:br>
              <a:rPr lang="en-US" sz="2400" dirty="0">
                <a:latin typeface="Aptos" panose="020B0004020202020204" pitchFamily="34" charset="0"/>
              </a:rPr>
            </a:br>
            <a:endParaRPr lang="en-US" sz="2400" dirty="0"/>
          </a:p>
        </p:txBody>
      </p:sp>
      <p:sp>
        <p:nvSpPr>
          <p:cNvPr id="14" name="Title 1">
            <a:extLst>
              <a:ext uri="{FF2B5EF4-FFF2-40B4-BE49-F238E27FC236}">
                <a16:creationId xmlns:a16="http://schemas.microsoft.com/office/drawing/2014/main" id="{B25C95DD-282F-D12E-BEA0-43F5F73E2ADE}"/>
              </a:ext>
            </a:extLst>
          </p:cNvPr>
          <p:cNvSpPr txBox="1">
            <a:spLocks/>
          </p:cNvSpPr>
          <p:nvPr/>
        </p:nvSpPr>
        <p:spPr>
          <a:xfrm>
            <a:off x="254052" y="112543"/>
            <a:ext cx="863589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latin typeface="Aptos" panose="020B0004020202020204" pitchFamily="34" charset="0"/>
              </a:rPr>
              <a:t>5. Experimental results</a:t>
            </a:r>
          </a:p>
          <a:p>
            <a:br>
              <a:rPr lang="en-US" dirty="0"/>
            </a:br>
            <a:br>
              <a:rPr lang="en-US" dirty="0">
                <a:latin typeface="Aptos" panose="020B0004020202020204" pitchFamily="34" charset="0"/>
              </a:rPr>
            </a:br>
            <a:endParaRPr lang="en-US" dirty="0"/>
          </a:p>
        </p:txBody>
      </p:sp>
    </p:spTree>
    <p:extLst>
      <p:ext uri="{BB962C8B-B14F-4D97-AF65-F5344CB8AC3E}">
        <p14:creationId xmlns:p14="http://schemas.microsoft.com/office/powerpoint/2010/main" val="662809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BDBB1-2F4C-2523-50F0-B6398BE3F883}"/>
            </a:ext>
          </a:extLst>
        </p:cNvPr>
        <p:cNvGrpSpPr/>
        <p:nvPr/>
      </p:nvGrpSpPr>
      <p:grpSpPr>
        <a:xfrm>
          <a:off x="0" y="0"/>
          <a:ext cx="0" cy="0"/>
          <a:chOff x="0" y="0"/>
          <a:chExt cx="0" cy="0"/>
        </a:xfrm>
      </p:grpSpPr>
      <p:sp>
        <p:nvSpPr>
          <p:cNvPr id="24" name="Slide Number Placeholder 4">
            <a:extLst>
              <a:ext uri="{FF2B5EF4-FFF2-40B4-BE49-F238E27FC236}">
                <a16:creationId xmlns:a16="http://schemas.microsoft.com/office/drawing/2014/main" id="{DC664409-13E1-31A7-88BA-F50F74E000CF}"/>
              </a:ext>
            </a:extLst>
          </p:cNvPr>
          <p:cNvSpPr txBox="1">
            <a:spLocks/>
          </p:cNvSpPr>
          <p:nvPr/>
        </p:nvSpPr>
        <p:spPr>
          <a:xfrm>
            <a:off x="6867383" y="6492878"/>
            <a:ext cx="2057400" cy="365125"/>
          </a:xfrm>
          <a:prstGeom prst="rect">
            <a:avLst/>
          </a:prstGeom>
        </p:spPr>
        <p:txBody>
          <a:bodyPr/>
          <a:lstStyle>
            <a:defPPr>
              <a:defRPr lang="en-US"/>
            </a:defPPr>
            <a:lvl1pPr marL="0" algn="r" defTabSz="457200" rtl="0" eaLnBrk="1" latinLnBrk="0" hangingPunct="1">
              <a:defRPr sz="1200" b="1" kern="1200">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EA0BE3B-158A-4EDF-80DC-E394A0D1600F}" type="slidenum">
              <a:rPr lang="en-US" smtClean="0"/>
              <a:pPr/>
              <a:t>17</a:t>
            </a:fld>
            <a:endParaRPr lang="en-US"/>
          </a:p>
        </p:txBody>
      </p:sp>
      <p:sp>
        <p:nvSpPr>
          <p:cNvPr id="11" name="Title 1">
            <a:extLst>
              <a:ext uri="{FF2B5EF4-FFF2-40B4-BE49-F238E27FC236}">
                <a16:creationId xmlns:a16="http://schemas.microsoft.com/office/drawing/2014/main" id="{4C631115-27D4-F2A5-BC5A-2712771B012F}"/>
              </a:ext>
            </a:extLst>
          </p:cNvPr>
          <p:cNvSpPr txBox="1">
            <a:spLocks/>
          </p:cNvSpPr>
          <p:nvPr/>
        </p:nvSpPr>
        <p:spPr>
          <a:xfrm>
            <a:off x="254052" y="743262"/>
            <a:ext cx="2117673"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dirty="0">
                <a:latin typeface="Aptos" panose="020B0004020202020204" pitchFamily="34" charset="0"/>
              </a:rPr>
              <a:t>Background</a:t>
            </a:r>
            <a:endParaRPr lang="en-US" b="0" dirty="0"/>
          </a:p>
          <a:p>
            <a:br>
              <a:rPr lang="en-US" sz="2400" dirty="0">
                <a:latin typeface="Aptos" panose="020B0004020202020204" pitchFamily="34" charset="0"/>
              </a:rPr>
            </a:br>
            <a:endParaRPr lang="en-US" sz="2400" dirty="0"/>
          </a:p>
        </p:txBody>
      </p:sp>
      <p:sp>
        <p:nvSpPr>
          <p:cNvPr id="14" name="Title 1">
            <a:extLst>
              <a:ext uri="{FF2B5EF4-FFF2-40B4-BE49-F238E27FC236}">
                <a16:creationId xmlns:a16="http://schemas.microsoft.com/office/drawing/2014/main" id="{1DEB5A16-A8B5-9940-E12C-C29FBAB7EFBD}"/>
              </a:ext>
            </a:extLst>
          </p:cNvPr>
          <p:cNvSpPr txBox="1">
            <a:spLocks/>
          </p:cNvSpPr>
          <p:nvPr/>
        </p:nvSpPr>
        <p:spPr>
          <a:xfrm>
            <a:off x="254052" y="112543"/>
            <a:ext cx="863589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latin typeface="Aptos" panose="020B0004020202020204" pitchFamily="34" charset="0"/>
              </a:rPr>
              <a:t>6. Conclusion</a:t>
            </a:r>
          </a:p>
          <a:p>
            <a:br>
              <a:rPr lang="en-US" dirty="0"/>
            </a:br>
            <a:br>
              <a:rPr lang="en-US" dirty="0">
                <a:latin typeface="Aptos" panose="020B0004020202020204" pitchFamily="34" charset="0"/>
              </a:rPr>
            </a:br>
            <a:endParaRPr lang="en-US" dirty="0"/>
          </a:p>
        </p:txBody>
      </p:sp>
    </p:spTree>
    <p:extLst>
      <p:ext uri="{BB962C8B-B14F-4D97-AF65-F5344CB8AC3E}">
        <p14:creationId xmlns:p14="http://schemas.microsoft.com/office/powerpoint/2010/main" val="1474005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1205</TotalTime>
  <Words>976</Words>
  <Application>Microsoft Office PowerPoint</Application>
  <PresentationFormat>Trình chiếu Trên màn hình (4:3)</PresentationFormat>
  <Paragraphs>141</Paragraphs>
  <Slides>18</Slides>
  <Notes>1</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18</vt:i4>
      </vt:variant>
    </vt:vector>
  </HeadingPairs>
  <TitlesOfParts>
    <vt:vector size="23" baseType="lpstr">
      <vt:lpstr>Aptos</vt:lpstr>
      <vt:lpstr>Arial</vt:lpstr>
      <vt:lpstr>Calibri</vt:lpstr>
      <vt:lpstr>Lato</vt:lpstr>
      <vt:lpstr>Office Theme</vt:lpstr>
      <vt:lpstr>Bản trình bày PowerPoint</vt:lpstr>
      <vt:lpstr>Outline</vt:lpstr>
      <vt:lpstr>1. Objectives </vt:lpstr>
      <vt:lpstr>1. Objectives </vt:lpstr>
      <vt:lpstr>2. Background theory    </vt:lpstr>
      <vt:lpstr>Bản trình bày PowerPoint</vt:lpstr>
      <vt:lpstr>Bản trình bày PowerPoint</vt:lpstr>
      <vt:lpstr>Bản trình bày PowerPoint</vt:lpstr>
      <vt:lpstr>4. System &amp; methodology</vt:lpstr>
      <vt:lpstr>4. System &amp; methodology</vt:lpstr>
      <vt:lpstr>4. System &amp; methodology</vt:lpstr>
      <vt:lpstr>4. System &amp; methodology</vt:lpstr>
      <vt:lpstr>4. System &amp; methodology</vt:lpstr>
      <vt:lpstr>4. System &amp; methodology</vt:lpstr>
      <vt:lpstr>4. System &amp; methodology</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Chu Trung Anh 20225564</cp:lastModifiedBy>
  <cp:revision>15</cp:revision>
  <dcterms:created xsi:type="dcterms:W3CDTF">2021-05-28T04:32:29Z</dcterms:created>
  <dcterms:modified xsi:type="dcterms:W3CDTF">2026-07-05T09:01:39Z</dcterms:modified>
</cp:coreProperties>
</file>